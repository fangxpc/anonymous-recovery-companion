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6077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5"/>
        </a:solidFill>
        <a:effectLst/>
      </p:bgPr>
    </p:bg>
    <p:spTree>
      <p:nvGrpSpPr>
        <p:cNvPr id="1" name=""/>
        <p:cNvGrpSpPr/>
        <p:nvPr/>
      </p:nvGrpSpPr>
      <p:grpSpPr>
        <a:xfrm>
          <a:off x="0" y="0"/>
          <a:ext cx="0" cy="0"/>
          <a:chOff x="0" y="0"/>
          <a:chExt cx="0" cy="0"/>
        </a:xfrm>
      </p:grpSpPr>
      <p:sp>
        <p:nvSpPr>
          <p:cNvPr id="2" name="Text 0"/>
          <p:cNvSpPr txBox="1"/>
          <p:nvPr/>
        </p:nvSpPr>
        <p:spPr>
          <a:xfrm>
            <a:off x="640080" y="1463040"/>
            <a:ext cx="5852160" cy="365760"/>
          </a:xfrm>
          <a:prstGeom prst="rect">
            <a:avLst/>
          </a:prstGeom>
          <a:noFill/>
          <a:ln/>
        </p:spPr>
        <p:txBody>
          <a:bodyPr wrap="square" lIns="0" tIns="0" rIns="0" bIns="0" rtlCol="0" anchor="ctr"/>
          <a:lstStyle/>
          <a:p>
            <a:pPr marL="0" indent="0">
              <a:buNone/>
            </a:pPr>
            <a:r>
              <a:rPr lang="en-US" sz="1600" b="1" kern="0" spc="400" dirty="0">
                <a:solidFill>
                  <a:srgbClr val="7FD6C8"/>
                </a:solidFill>
                <a:latin typeface="Calibri" pitchFamily="34" charset="0"/>
                <a:ea typeface="Calibri" pitchFamily="34" charset="-122"/>
                <a:cs typeface="Calibri" pitchFamily="34" charset="-120"/>
              </a:rPr>
              <a:t>BYTEQUEST HACKATHON</a:t>
            </a:r>
            <a:endParaRPr lang="en-US" sz="1600" dirty="0"/>
          </a:p>
        </p:txBody>
      </p:sp>
      <p:sp>
        <p:nvSpPr>
          <p:cNvPr id="3" name="Text 1"/>
          <p:cNvSpPr txBox="1"/>
          <p:nvPr/>
        </p:nvSpPr>
        <p:spPr>
          <a:xfrm>
            <a:off x="640080" y="1920240"/>
            <a:ext cx="5852160" cy="1828800"/>
          </a:xfrm>
          <a:prstGeom prst="rect">
            <a:avLst/>
          </a:prstGeom>
          <a:noFill/>
          <a:ln/>
        </p:spPr>
        <p:txBody>
          <a:bodyPr wrap="square" lIns="0" tIns="0" rIns="0" bIns="0" rtlCol="0" anchor="t"/>
          <a:lstStyle/>
          <a:p>
            <a:pPr marL="0" indent="0">
              <a:buNone/>
            </a:pPr>
            <a:r>
              <a:rPr lang="en-US" sz="4800" b="1" dirty="0">
                <a:solidFill>
                  <a:srgbClr val="FFFFFF"/>
                </a:solidFill>
                <a:latin typeface="Cambria" pitchFamily="34" charset="0"/>
                <a:ea typeface="Cambria" pitchFamily="34" charset="-122"/>
                <a:cs typeface="Cambria" pitchFamily="34" charset="-120"/>
              </a:rPr>
              <a:t>Top 8 Problem Statements</a:t>
            </a:r>
            <a:endParaRPr lang="en-US" sz="4800" dirty="0"/>
          </a:p>
        </p:txBody>
      </p:sp>
      <p:sp>
        <p:nvSpPr>
          <p:cNvPr id="5" name="Text 3"/>
          <p:cNvSpPr txBox="1"/>
          <p:nvPr/>
        </p:nvSpPr>
        <p:spPr>
          <a:xfrm>
            <a:off x="640080" y="5760720"/>
            <a:ext cx="5486400" cy="365760"/>
          </a:xfrm>
          <a:prstGeom prst="rect">
            <a:avLst/>
          </a:prstGeom>
          <a:noFill/>
          <a:ln/>
        </p:spPr>
        <p:txBody>
          <a:bodyPr wrap="square" lIns="0" tIns="0" rIns="0" bIns="0" rtlCol="0" anchor="ctr"/>
          <a:lstStyle/>
          <a:p>
            <a:pPr marL="0" indent="0">
              <a:buNone/>
            </a:pPr>
            <a:r>
              <a:rPr lang="en-US" sz="1800" i="1" dirty="0">
                <a:solidFill>
                  <a:srgbClr val="7FD6C8"/>
                </a:solidFill>
                <a:latin typeface="Cambria" pitchFamily="34" charset="0"/>
                <a:ea typeface="Cambria" pitchFamily="34" charset="-122"/>
                <a:cs typeface="Cambria" pitchFamily="34" charset="-120"/>
              </a:rPr>
              <a:t>Clear Mind. Clean Code.</a:t>
            </a:r>
            <a:endParaRPr lang="en-US" sz="1800" dirty="0"/>
          </a:p>
        </p:txBody>
      </p:sp>
      <p:sp>
        <p:nvSpPr>
          <p:cNvPr id="6" name="Shape 4"/>
          <p:cNvSpPr/>
          <p:nvPr/>
        </p:nvSpPr>
        <p:spPr>
          <a:xfrm>
            <a:off x="7086600" y="1234440"/>
            <a:ext cx="2148840" cy="2148840"/>
          </a:xfrm>
          <a:prstGeom prst="roundRect">
            <a:avLst>
              <a:gd name="adj" fmla="val 6383"/>
            </a:avLst>
          </a:prstGeom>
          <a:solidFill>
            <a:srgbClr val="0F8B78"/>
          </a:solidFill>
          <a:ln/>
        </p:spPr>
      </p:sp>
      <p:pic>
        <p:nvPicPr>
          <p:cNvPr id="7" name="Image 0" descr="preencoded.png"/>
          <p:cNvPicPr>
            <a:picLocks noChangeAspect="1"/>
          </p:cNvPicPr>
          <p:nvPr/>
        </p:nvPicPr>
        <p:blipFill>
          <a:blip r:embed="rId3"/>
          <a:stretch>
            <a:fillRect/>
          </a:stretch>
        </p:blipFill>
        <p:spPr>
          <a:xfrm>
            <a:off x="7360920" y="1508760"/>
            <a:ext cx="640080" cy="640080"/>
          </a:xfrm>
          <a:prstGeom prst="rect">
            <a:avLst/>
          </a:prstGeom>
        </p:spPr>
      </p:pic>
      <p:sp>
        <p:nvSpPr>
          <p:cNvPr id="8" name="Text 5"/>
          <p:cNvSpPr txBox="1"/>
          <p:nvPr/>
        </p:nvSpPr>
        <p:spPr>
          <a:xfrm>
            <a:off x="7360920" y="2331720"/>
            <a:ext cx="1600200" cy="27432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TRACK A</a:t>
            </a:r>
            <a:endParaRPr lang="en-US" sz="1200" dirty="0"/>
          </a:p>
        </p:txBody>
      </p:sp>
      <p:sp>
        <p:nvSpPr>
          <p:cNvPr id="9" name="Text 6"/>
          <p:cNvSpPr txBox="1"/>
          <p:nvPr/>
        </p:nvSpPr>
        <p:spPr>
          <a:xfrm>
            <a:off x="7360920" y="2606040"/>
            <a:ext cx="1600200" cy="5943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Tech for Recovery</a:t>
            </a:r>
            <a:endParaRPr lang="en-US" sz="1600" dirty="0"/>
          </a:p>
        </p:txBody>
      </p:sp>
      <p:sp>
        <p:nvSpPr>
          <p:cNvPr id="10" name="Shape 7"/>
          <p:cNvSpPr/>
          <p:nvPr/>
        </p:nvSpPr>
        <p:spPr>
          <a:xfrm>
            <a:off x="9464040" y="1234440"/>
            <a:ext cx="2148840" cy="2148840"/>
          </a:xfrm>
          <a:prstGeom prst="roundRect">
            <a:avLst>
              <a:gd name="adj" fmla="val 6383"/>
            </a:avLst>
          </a:prstGeom>
          <a:solidFill>
            <a:srgbClr val="6A5ACD"/>
          </a:solidFill>
          <a:ln/>
        </p:spPr>
      </p:sp>
      <p:pic>
        <p:nvPicPr>
          <p:cNvPr id="11" name="Image 1" descr="preencoded.png"/>
          <p:cNvPicPr>
            <a:picLocks noChangeAspect="1"/>
          </p:cNvPicPr>
          <p:nvPr/>
        </p:nvPicPr>
        <p:blipFill>
          <a:blip r:embed="rId4"/>
          <a:stretch>
            <a:fillRect/>
          </a:stretch>
        </p:blipFill>
        <p:spPr>
          <a:xfrm>
            <a:off x="9738360" y="1508760"/>
            <a:ext cx="640080" cy="640080"/>
          </a:xfrm>
          <a:prstGeom prst="rect">
            <a:avLst/>
          </a:prstGeom>
        </p:spPr>
      </p:pic>
      <p:sp>
        <p:nvSpPr>
          <p:cNvPr id="12" name="Text 8"/>
          <p:cNvSpPr txBox="1"/>
          <p:nvPr/>
        </p:nvSpPr>
        <p:spPr>
          <a:xfrm>
            <a:off x="9738360" y="2331720"/>
            <a:ext cx="1600200" cy="27432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TRACK B</a:t>
            </a:r>
            <a:endParaRPr lang="en-US" sz="1200" dirty="0"/>
          </a:p>
        </p:txBody>
      </p:sp>
      <p:sp>
        <p:nvSpPr>
          <p:cNvPr id="13" name="Text 9"/>
          <p:cNvSpPr txBox="1"/>
          <p:nvPr/>
        </p:nvSpPr>
        <p:spPr>
          <a:xfrm>
            <a:off x="9738360" y="2606040"/>
            <a:ext cx="1600200" cy="5943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Tech for Mental Wellness</a:t>
            </a:r>
            <a:endParaRPr lang="en-US" sz="1600" dirty="0"/>
          </a:p>
        </p:txBody>
      </p:sp>
      <p:sp>
        <p:nvSpPr>
          <p:cNvPr id="14" name="Shape 10"/>
          <p:cNvSpPr/>
          <p:nvPr/>
        </p:nvSpPr>
        <p:spPr>
          <a:xfrm>
            <a:off x="7086600" y="3611880"/>
            <a:ext cx="2148840" cy="2148840"/>
          </a:xfrm>
          <a:prstGeom prst="roundRect">
            <a:avLst>
              <a:gd name="adj" fmla="val 6383"/>
            </a:avLst>
          </a:prstGeom>
          <a:solidFill>
            <a:srgbClr val="C2620A"/>
          </a:solidFill>
          <a:ln/>
        </p:spPr>
      </p:sp>
      <p:pic>
        <p:nvPicPr>
          <p:cNvPr id="15" name="Image 2" descr="preencoded.png"/>
          <p:cNvPicPr>
            <a:picLocks noChangeAspect="1"/>
          </p:cNvPicPr>
          <p:nvPr/>
        </p:nvPicPr>
        <p:blipFill>
          <a:blip r:embed="rId5"/>
          <a:stretch>
            <a:fillRect/>
          </a:stretch>
        </p:blipFill>
        <p:spPr>
          <a:xfrm>
            <a:off x="7360920" y="3886200"/>
            <a:ext cx="640080" cy="640080"/>
          </a:xfrm>
          <a:prstGeom prst="rect">
            <a:avLst/>
          </a:prstGeom>
        </p:spPr>
      </p:pic>
      <p:sp>
        <p:nvSpPr>
          <p:cNvPr id="16" name="Text 11"/>
          <p:cNvSpPr txBox="1"/>
          <p:nvPr/>
        </p:nvSpPr>
        <p:spPr>
          <a:xfrm>
            <a:off x="7360920" y="4709160"/>
            <a:ext cx="1600200" cy="27432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TRACK C</a:t>
            </a:r>
            <a:endParaRPr lang="en-US" sz="1200" dirty="0"/>
          </a:p>
        </p:txBody>
      </p:sp>
      <p:sp>
        <p:nvSpPr>
          <p:cNvPr id="17" name="Text 12"/>
          <p:cNvSpPr txBox="1"/>
          <p:nvPr/>
        </p:nvSpPr>
        <p:spPr>
          <a:xfrm>
            <a:off x="7360920" y="4983480"/>
            <a:ext cx="1600200" cy="5943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Tech for Digital Balance</a:t>
            </a:r>
            <a:endParaRPr lang="en-US" sz="1600" dirty="0"/>
          </a:p>
        </p:txBody>
      </p:sp>
      <p:sp>
        <p:nvSpPr>
          <p:cNvPr id="18" name="Shape 13"/>
          <p:cNvSpPr/>
          <p:nvPr/>
        </p:nvSpPr>
        <p:spPr>
          <a:xfrm>
            <a:off x="9464040" y="3611880"/>
            <a:ext cx="2148840" cy="2148840"/>
          </a:xfrm>
          <a:prstGeom prst="roundRect">
            <a:avLst>
              <a:gd name="adj" fmla="val 6383"/>
            </a:avLst>
          </a:prstGeom>
          <a:solidFill>
            <a:srgbClr val="C0392B"/>
          </a:solidFill>
          <a:ln/>
        </p:spPr>
      </p:sp>
      <p:pic>
        <p:nvPicPr>
          <p:cNvPr id="19" name="Image 3" descr="preencoded.png"/>
          <p:cNvPicPr>
            <a:picLocks noChangeAspect="1"/>
          </p:cNvPicPr>
          <p:nvPr/>
        </p:nvPicPr>
        <p:blipFill>
          <a:blip r:embed="rId6"/>
          <a:stretch>
            <a:fillRect/>
          </a:stretch>
        </p:blipFill>
        <p:spPr>
          <a:xfrm>
            <a:off x="9738360" y="3886200"/>
            <a:ext cx="640080" cy="640080"/>
          </a:xfrm>
          <a:prstGeom prst="rect">
            <a:avLst/>
          </a:prstGeom>
        </p:spPr>
      </p:pic>
      <p:sp>
        <p:nvSpPr>
          <p:cNvPr id="20" name="Text 14"/>
          <p:cNvSpPr txBox="1"/>
          <p:nvPr/>
        </p:nvSpPr>
        <p:spPr>
          <a:xfrm>
            <a:off x="9738360" y="4709160"/>
            <a:ext cx="1600200" cy="27432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TRACK D</a:t>
            </a:r>
            <a:endParaRPr lang="en-US" sz="1200" dirty="0"/>
          </a:p>
        </p:txBody>
      </p:sp>
      <p:sp>
        <p:nvSpPr>
          <p:cNvPr id="21" name="Text 15"/>
          <p:cNvSpPr txBox="1"/>
          <p:nvPr/>
        </p:nvSpPr>
        <p:spPr>
          <a:xfrm>
            <a:off x="9738360" y="4983480"/>
            <a:ext cx="1600200" cy="5943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Tech for Safe Campuses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9"/>
        </a:solidFill>
        <a:effectLst/>
      </p:bgPr>
    </p:bg>
    <p:spTree>
      <p:nvGrpSpPr>
        <p:cNvPr id="1" name=""/>
        <p:cNvGrpSpPr/>
        <p:nvPr/>
      </p:nvGrpSpPr>
      <p:grpSpPr>
        <a:xfrm>
          <a:off x="0" y="0"/>
          <a:ext cx="0" cy="0"/>
          <a:chOff x="0" y="0"/>
          <a:chExt cx="0" cy="0"/>
        </a:xfrm>
      </p:grpSpPr>
      <p:sp>
        <p:nvSpPr>
          <p:cNvPr id="2" name="Text 0"/>
          <p:cNvSpPr txBox="1"/>
          <p:nvPr/>
        </p:nvSpPr>
        <p:spPr>
          <a:xfrm>
            <a:off x="548640" y="508145"/>
            <a:ext cx="7315200" cy="685800"/>
          </a:xfrm>
          <a:prstGeom prst="rect">
            <a:avLst/>
          </a:prstGeom>
          <a:noFill/>
          <a:ln/>
        </p:spPr>
        <p:txBody>
          <a:bodyPr wrap="square" lIns="0" tIns="0" rIns="0" bIns="0" rtlCol="0" anchor="ctr"/>
          <a:lstStyle/>
          <a:p>
            <a:pPr marL="0" indent="0">
              <a:buNone/>
            </a:pPr>
            <a:r>
              <a:rPr lang="en-US" sz="3800" b="1" dirty="0">
                <a:solidFill>
                  <a:srgbClr val="0E2A35"/>
                </a:solidFill>
                <a:latin typeface="Cambria" pitchFamily="34" charset="0"/>
                <a:ea typeface="Cambria" pitchFamily="34" charset="-122"/>
                <a:cs typeface="Cambria" pitchFamily="34" charset="-120"/>
              </a:rPr>
              <a:t>The Shortlist</a:t>
            </a:r>
            <a:endParaRPr lang="en-US" sz="3800" dirty="0"/>
          </a:p>
        </p:txBody>
      </p:sp>
      <p:sp>
        <p:nvSpPr>
          <p:cNvPr id="4" name="Shape 2"/>
          <p:cNvSpPr/>
          <p:nvPr/>
        </p:nvSpPr>
        <p:spPr>
          <a:xfrm>
            <a:off x="548640" y="1783080"/>
            <a:ext cx="2606040" cy="4434840"/>
          </a:xfrm>
          <a:prstGeom prst="rect">
            <a:avLst/>
          </a:prstGeom>
          <a:solidFill>
            <a:srgbClr val="FFFFFF"/>
          </a:solidFill>
          <a:ln/>
          <a:effectLst>
            <a:outerShdw blurRad="101600" dist="25400" dir="5400000" algn="bl" rotWithShape="0">
              <a:srgbClr val="000000">
                <a:alpha val="12000"/>
              </a:srgbClr>
            </a:outerShdw>
          </a:effectLst>
        </p:spPr>
      </p:sp>
      <p:sp>
        <p:nvSpPr>
          <p:cNvPr id="5" name="Shape 3"/>
          <p:cNvSpPr/>
          <p:nvPr/>
        </p:nvSpPr>
        <p:spPr>
          <a:xfrm>
            <a:off x="548640" y="1783080"/>
            <a:ext cx="2606040" cy="1691640"/>
          </a:xfrm>
          <a:prstGeom prst="rect">
            <a:avLst/>
          </a:prstGeom>
          <a:solidFill>
            <a:srgbClr val="0F8B78"/>
          </a:solidFill>
          <a:ln/>
        </p:spPr>
      </p:sp>
      <p:pic>
        <p:nvPicPr>
          <p:cNvPr id="6" name="Image 0" descr="preencoded.png"/>
          <p:cNvPicPr>
            <a:picLocks noChangeAspect="1"/>
          </p:cNvPicPr>
          <p:nvPr/>
        </p:nvPicPr>
        <p:blipFill>
          <a:blip r:embed="rId3"/>
          <a:stretch>
            <a:fillRect/>
          </a:stretch>
        </p:blipFill>
        <p:spPr>
          <a:xfrm>
            <a:off x="777240" y="2011680"/>
            <a:ext cx="457200" cy="457200"/>
          </a:xfrm>
          <a:prstGeom prst="rect">
            <a:avLst/>
          </a:prstGeom>
        </p:spPr>
      </p:pic>
      <p:sp>
        <p:nvSpPr>
          <p:cNvPr id="7" name="Text 4"/>
          <p:cNvSpPr txBox="1"/>
          <p:nvPr/>
        </p:nvSpPr>
        <p:spPr>
          <a:xfrm>
            <a:off x="777240" y="2606040"/>
            <a:ext cx="2148840" cy="256032"/>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TRACK A</a:t>
            </a:r>
            <a:endParaRPr lang="en-US" sz="1200" dirty="0"/>
          </a:p>
        </p:txBody>
      </p:sp>
      <p:sp>
        <p:nvSpPr>
          <p:cNvPr id="8" name="Text 5"/>
          <p:cNvSpPr txBox="1"/>
          <p:nvPr/>
        </p:nvSpPr>
        <p:spPr>
          <a:xfrm>
            <a:off x="777240" y="2862072"/>
            <a:ext cx="2148840" cy="54864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Tech for Recovery</a:t>
            </a:r>
            <a:endParaRPr lang="en-US" sz="1700" dirty="0"/>
          </a:p>
        </p:txBody>
      </p:sp>
      <p:sp>
        <p:nvSpPr>
          <p:cNvPr id="9" name="Shape 6"/>
          <p:cNvSpPr/>
          <p:nvPr/>
        </p:nvSpPr>
        <p:spPr>
          <a:xfrm>
            <a:off x="777240" y="3749040"/>
            <a:ext cx="384048" cy="384048"/>
          </a:xfrm>
          <a:prstGeom prst="ellipse">
            <a:avLst/>
          </a:prstGeom>
          <a:solidFill>
            <a:srgbClr val="0F8B78"/>
          </a:solidFill>
          <a:ln/>
        </p:spPr>
      </p:sp>
      <p:sp>
        <p:nvSpPr>
          <p:cNvPr id="10" name="Text 7"/>
          <p:cNvSpPr txBox="1"/>
          <p:nvPr/>
        </p:nvSpPr>
        <p:spPr>
          <a:xfrm>
            <a:off x="777240" y="37490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txBox="1"/>
          <p:nvPr/>
        </p:nvSpPr>
        <p:spPr>
          <a:xfrm>
            <a:off x="1280160" y="3730752"/>
            <a:ext cx="1691640" cy="914400"/>
          </a:xfrm>
          <a:prstGeom prst="rect">
            <a:avLst/>
          </a:prstGeom>
          <a:noFill/>
          <a:ln/>
        </p:spPr>
        <p:txBody>
          <a:bodyPr wrap="square" lIns="0" tIns="0" rIns="0" bIns="0" rtlCol="0" anchor="t"/>
          <a:lstStyle/>
          <a:p>
            <a:pPr marL="0" indent="0">
              <a:buNone/>
            </a:pPr>
            <a:r>
              <a:rPr lang="en-US" sz="1500" b="1" dirty="0">
                <a:solidFill>
                  <a:srgbClr val="1B2B34"/>
                </a:solidFill>
                <a:latin typeface="Calibri" pitchFamily="34" charset="0"/>
                <a:ea typeface="Calibri" pitchFamily="34" charset="-122"/>
                <a:cs typeface="Calibri" pitchFamily="34" charset="-120"/>
              </a:rPr>
              <a:t>Recovery Resource Navigator</a:t>
            </a:r>
            <a:endParaRPr lang="en-US" sz="1500" dirty="0"/>
          </a:p>
        </p:txBody>
      </p:sp>
      <p:sp>
        <p:nvSpPr>
          <p:cNvPr id="12" name="Shape 9"/>
          <p:cNvSpPr/>
          <p:nvPr/>
        </p:nvSpPr>
        <p:spPr>
          <a:xfrm>
            <a:off x="777240" y="4937760"/>
            <a:ext cx="384048" cy="384048"/>
          </a:xfrm>
          <a:prstGeom prst="ellipse">
            <a:avLst/>
          </a:prstGeom>
          <a:solidFill>
            <a:srgbClr val="0F8B78"/>
          </a:solidFill>
          <a:ln/>
        </p:spPr>
      </p:sp>
      <p:sp>
        <p:nvSpPr>
          <p:cNvPr id="13" name="Text 10"/>
          <p:cNvSpPr txBox="1"/>
          <p:nvPr/>
        </p:nvSpPr>
        <p:spPr>
          <a:xfrm>
            <a:off x="777240" y="49377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Text 11"/>
          <p:cNvSpPr txBox="1"/>
          <p:nvPr/>
        </p:nvSpPr>
        <p:spPr>
          <a:xfrm>
            <a:off x="1280160" y="4919472"/>
            <a:ext cx="1691640" cy="914400"/>
          </a:xfrm>
          <a:prstGeom prst="rect">
            <a:avLst/>
          </a:prstGeom>
          <a:noFill/>
          <a:ln/>
        </p:spPr>
        <p:txBody>
          <a:bodyPr wrap="square" lIns="0" tIns="0" rIns="0" bIns="0" rtlCol="0" anchor="t"/>
          <a:lstStyle/>
          <a:p>
            <a:pPr marL="0" indent="0">
              <a:buNone/>
            </a:pPr>
            <a:r>
              <a:rPr lang="en-US" sz="1500" b="1" dirty="0">
                <a:solidFill>
                  <a:srgbClr val="1B2B34"/>
                </a:solidFill>
                <a:latin typeface="Calibri" pitchFamily="34" charset="0"/>
                <a:ea typeface="Calibri" pitchFamily="34" charset="-122"/>
                <a:cs typeface="Calibri" pitchFamily="34" charset="-120"/>
              </a:rPr>
              <a:t>Anonymous Recovery Companion</a:t>
            </a:r>
            <a:endParaRPr lang="en-US" sz="1500" dirty="0"/>
          </a:p>
        </p:txBody>
      </p:sp>
      <p:sp>
        <p:nvSpPr>
          <p:cNvPr id="15" name="Shape 12"/>
          <p:cNvSpPr/>
          <p:nvPr/>
        </p:nvSpPr>
        <p:spPr>
          <a:xfrm>
            <a:off x="3374136" y="1783080"/>
            <a:ext cx="2606040" cy="4434840"/>
          </a:xfrm>
          <a:prstGeom prst="rect">
            <a:avLst/>
          </a:prstGeom>
          <a:solidFill>
            <a:srgbClr val="FFFFFF"/>
          </a:solidFill>
          <a:ln/>
          <a:effectLst>
            <a:outerShdw blurRad="101600" dist="25400" dir="5400000" algn="bl" rotWithShape="0">
              <a:srgbClr val="000000">
                <a:alpha val="12000"/>
              </a:srgbClr>
            </a:outerShdw>
          </a:effectLst>
        </p:spPr>
      </p:sp>
      <p:sp>
        <p:nvSpPr>
          <p:cNvPr id="16" name="Shape 13"/>
          <p:cNvSpPr/>
          <p:nvPr/>
        </p:nvSpPr>
        <p:spPr>
          <a:xfrm>
            <a:off x="3374136" y="1783080"/>
            <a:ext cx="2606040" cy="1691640"/>
          </a:xfrm>
          <a:prstGeom prst="rect">
            <a:avLst/>
          </a:prstGeom>
          <a:solidFill>
            <a:srgbClr val="6A5ACD"/>
          </a:solidFill>
          <a:ln/>
        </p:spPr>
      </p:sp>
      <p:pic>
        <p:nvPicPr>
          <p:cNvPr id="17" name="Image 1" descr="preencoded.png"/>
          <p:cNvPicPr>
            <a:picLocks noChangeAspect="1"/>
          </p:cNvPicPr>
          <p:nvPr/>
        </p:nvPicPr>
        <p:blipFill>
          <a:blip r:embed="rId4"/>
          <a:stretch>
            <a:fillRect/>
          </a:stretch>
        </p:blipFill>
        <p:spPr>
          <a:xfrm>
            <a:off x="3602736" y="2011680"/>
            <a:ext cx="457200" cy="457200"/>
          </a:xfrm>
          <a:prstGeom prst="rect">
            <a:avLst/>
          </a:prstGeom>
        </p:spPr>
      </p:pic>
      <p:sp>
        <p:nvSpPr>
          <p:cNvPr id="18" name="Text 14"/>
          <p:cNvSpPr txBox="1"/>
          <p:nvPr/>
        </p:nvSpPr>
        <p:spPr>
          <a:xfrm>
            <a:off x="3602736" y="2606040"/>
            <a:ext cx="2148840" cy="256032"/>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TRACK B</a:t>
            </a:r>
            <a:endParaRPr lang="en-US" sz="1200" dirty="0"/>
          </a:p>
        </p:txBody>
      </p:sp>
      <p:sp>
        <p:nvSpPr>
          <p:cNvPr id="19" name="Text 15"/>
          <p:cNvSpPr txBox="1"/>
          <p:nvPr/>
        </p:nvSpPr>
        <p:spPr>
          <a:xfrm>
            <a:off x="3602736" y="2862072"/>
            <a:ext cx="2148840" cy="54864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Tech for Mental Wellness</a:t>
            </a:r>
            <a:endParaRPr lang="en-US" sz="1700" dirty="0"/>
          </a:p>
        </p:txBody>
      </p:sp>
      <p:sp>
        <p:nvSpPr>
          <p:cNvPr id="20" name="Shape 16"/>
          <p:cNvSpPr/>
          <p:nvPr/>
        </p:nvSpPr>
        <p:spPr>
          <a:xfrm>
            <a:off x="3602736" y="3749040"/>
            <a:ext cx="384048" cy="384048"/>
          </a:xfrm>
          <a:prstGeom prst="ellipse">
            <a:avLst/>
          </a:prstGeom>
          <a:solidFill>
            <a:srgbClr val="6A5ACD"/>
          </a:solidFill>
          <a:ln/>
        </p:spPr>
      </p:sp>
      <p:sp>
        <p:nvSpPr>
          <p:cNvPr id="21" name="Text 17"/>
          <p:cNvSpPr txBox="1"/>
          <p:nvPr/>
        </p:nvSpPr>
        <p:spPr>
          <a:xfrm>
            <a:off x="3602736" y="37490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txBox="1"/>
          <p:nvPr/>
        </p:nvSpPr>
        <p:spPr>
          <a:xfrm>
            <a:off x="4105656" y="3730752"/>
            <a:ext cx="1691640" cy="914400"/>
          </a:xfrm>
          <a:prstGeom prst="rect">
            <a:avLst/>
          </a:prstGeom>
          <a:noFill/>
          <a:ln/>
        </p:spPr>
        <p:txBody>
          <a:bodyPr wrap="square" lIns="0" tIns="0" rIns="0" bIns="0" rtlCol="0" anchor="t"/>
          <a:lstStyle/>
          <a:p>
            <a:pPr marL="0" indent="0">
              <a:buNone/>
            </a:pPr>
            <a:r>
              <a:rPr lang="en-US" sz="1500" b="1" dirty="0">
                <a:solidFill>
                  <a:srgbClr val="1B2B34"/>
                </a:solidFill>
                <a:latin typeface="Calibri" pitchFamily="34" charset="0"/>
                <a:ea typeface="Calibri" pitchFamily="34" charset="-122"/>
                <a:cs typeface="Calibri" pitchFamily="34" charset="-120"/>
              </a:rPr>
              <a:t>Student Wellness Journal</a:t>
            </a:r>
            <a:endParaRPr lang="en-US" sz="1500" dirty="0"/>
          </a:p>
        </p:txBody>
      </p:sp>
      <p:sp>
        <p:nvSpPr>
          <p:cNvPr id="23" name="Shape 19"/>
          <p:cNvSpPr/>
          <p:nvPr/>
        </p:nvSpPr>
        <p:spPr>
          <a:xfrm>
            <a:off x="3602736" y="4937760"/>
            <a:ext cx="384048" cy="384048"/>
          </a:xfrm>
          <a:prstGeom prst="ellipse">
            <a:avLst/>
          </a:prstGeom>
          <a:solidFill>
            <a:srgbClr val="6A5ACD"/>
          </a:solidFill>
          <a:ln/>
        </p:spPr>
      </p:sp>
      <p:sp>
        <p:nvSpPr>
          <p:cNvPr id="24" name="Text 20"/>
          <p:cNvSpPr txBox="1"/>
          <p:nvPr/>
        </p:nvSpPr>
        <p:spPr>
          <a:xfrm>
            <a:off x="3602736" y="49377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5" name="Text 21"/>
          <p:cNvSpPr txBox="1"/>
          <p:nvPr/>
        </p:nvSpPr>
        <p:spPr>
          <a:xfrm>
            <a:off x="4105656" y="4919472"/>
            <a:ext cx="1691640" cy="914400"/>
          </a:xfrm>
          <a:prstGeom prst="rect">
            <a:avLst/>
          </a:prstGeom>
          <a:noFill/>
          <a:ln/>
        </p:spPr>
        <p:txBody>
          <a:bodyPr wrap="square" lIns="0" tIns="0" rIns="0" bIns="0" rtlCol="0" anchor="t"/>
          <a:lstStyle/>
          <a:p>
            <a:pPr marL="0" indent="0">
              <a:buNone/>
            </a:pPr>
            <a:r>
              <a:rPr lang="en-US" sz="1500" b="1" dirty="0">
                <a:solidFill>
                  <a:srgbClr val="1B2B34"/>
                </a:solidFill>
                <a:latin typeface="Calibri" pitchFamily="34" charset="0"/>
                <a:ea typeface="Calibri" pitchFamily="34" charset="-122"/>
                <a:cs typeface="Calibri" pitchFamily="34" charset="-120"/>
              </a:rPr>
              <a:t>MindQuest</a:t>
            </a:r>
            <a:endParaRPr lang="en-US" sz="1500" dirty="0"/>
          </a:p>
          <a:p>
            <a:pPr marL="0" indent="0">
              <a:buNone/>
            </a:pPr>
            <a:r>
              <a:rPr lang="en-US" sz="1200" dirty="0">
                <a:solidFill>
                  <a:srgbClr val="5B6B73"/>
                </a:solidFill>
                <a:latin typeface="Calibri" pitchFamily="34" charset="0"/>
                <a:ea typeface="Calibri" pitchFamily="34" charset="-122"/>
                <a:cs typeface="Calibri" pitchFamily="34" charset="-120"/>
              </a:rPr>
              <a:t>Campus Wellness Challenge</a:t>
            </a:r>
            <a:endParaRPr lang="en-US" sz="1500" dirty="0"/>
          </a:p>
        </p:txBody>
      </p:sp>
      <p:sp>
        <p:nvSpPr>
          <p:cNvPr id="26" name="Shape 22"/>
          <p:cNvSpPr/>
          <p:nvPr/>
        </p:nvSpPr>
        <p:spPr>
          <a:xfrm>
            <a:off x="6199632" y="1783080"/>
            <a:ext cx="2606040" cy="4434840"/>
          </a:xfrm>
          <a:prstGeom prst="rect">
            <a:avLst/>
          </a:prstGeom>
          <a:solidFill>
            <a:srgbClr val="FFFFFF"/>
          </a:solidFill>
          <a:ln/>
          <a:effectLst>
            <a:outerShdw blurRad="101600" dist="25400" dir="5400000" algn="bl" rotWithShape="0">
              <a:srgbClr val="000000">
                <a:alpha val="12000"/>
              </a:srgbClr>
            </a:outerShdw>
          </a:effectLst>
        </p:spPr>
      </p:sp>
      <p:sp>
        <p:nvSpPr>
          <p:cNvPr id="27" name="Shape 23"/>
          <p:cNvSpPr/>
          <p:nvPr/>
        </p:nvSpPr>
        <p:spPr>
          <a:xfrm>
            <a:off x="6199632" y="1783080"/>
            <a:ext cx="2606040" cy="1691640"/>
          </a:xfrm>
          <a:prstGeom prst="rect">
            <a:avLst/>
          </a:prstGeom>
          <a:solidFill>
            <a:srgbClr val="C2620A"/>
          </a:solidFill>
          <a:ln/>
        </p:spPr>
      </p:sp>
      <p:pic>
        <p:nvPicPr>
          <p:cNvPr id="28" name="Image 2" descr="preencoded.png"/>
          <p:cNvPicPr>
            <a:picLocks noChangeAspect="1"/>
          </p:cNvPicPr>
          <p:nvPr/>
        </p:nvPicPr>
        <p:blipFill>
          <a:blip r:embed="rId5"/>
          <a:stretch>
            <a:fillRect/>
          </a:stretch>
        </p:blipFill>
        <p:spPr>
          <a:xfrm>
            <a:off x="6428232" y="2011680"/>
            <a:ext cx="457200" cy="457200"/>
          </a:xfrm>
          <a:prstGeom prst="rect">
            <a:avLst/>
          </a:prstGeom>
        </p:spPr>
      </p:pic>
      <p:sp>
        <p:nvSpPr>
          <p:cNvPr id="29" name="Text 24"/>
          <p:cNvSpPr txBox="1"/>
          <p:nvPr/>
        </p:nvSpPr>
        <p:spPr>
          <a:xfrm>
            <a:off x="6428232" y="2606040"/>
            <a:ext cx="2148840" cy="256032"/>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TRACK C</a:t>
            </a:r>
            <a:endParaRPr lang="en-US" sz="1200" dirty="0"/>
          </a:p>
        </p:txBody>
      </p:sp>
      <p:sp>
        <p:nvSpPr>
          <p:cNvPr id="30" name="Text 25"/>
          <p:cNvSpPr txBox="1"/>
          <p:nvPr/>
        </p:nvSpPr>
        <p:spPr>
          <a:xfrm>
            <a:off x="6428232" y="2862072"/>
            <a:ext cx="2148840" cy="54864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Tech for Digital Balance</a:t>
            </a:r>
            <a:endParaRPr lang="en-US" sz="1700" dirty="0"/>
          </a:p>
        </p:txBody>
      </p:sp>
      <p:sp>
        <p:nvSpPr>
          <p:cNvPr id="31" name="Shape 26"/>
          <p:cNvSpPr/>
          <p:nvPr/>
        </p:nvSpPr>
        <p:spPr>
          <a:xfrm>
            <a:off x="6428232" y="3749040"/>
            <a:ext cx="384048" cy="384048"/>
          </a:xfrm>
          <a:prstGeom prst="ellipse">
            <a:avLst/>
          </a:prstGeom>
          <a:solidFill>
            <a:srgbClr val="C2620A"/>
          </a:solidFill>
          <a:ln/>
        </p:spPr>
      </p:sp>
      <p:sp>
        <p:nvSpPr>
          <p:cNvPr id="32" name="Text 27"/>
          <p:cNvSpPr txBox="1"/>
          <p:nvPr/>
        </p:nvSpPr>
        <p:spPr>
          <a:xfrm>
            <a:off x="6428232" y="37490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3" name="Text 28"/>
          <p:cNvSpPr txBox="1"/>
          <p:nvPr/>
        </p:nvSpPr>
        <p:spPr>
          <a:xfrm>
            <a:off x="6931152" y="3730752"/>
            <a:ext cx="1691640" cy="914400"/>
          </a:xfrm>
          <a:prstGeom prst="rect">
            <a:avLst/>
          </a:prstGeom>
          <a:noFill/>
          <a:ln/>
        </p:spPr>
        <p:txBody>
          <a:bodyPr wrap="square" lIns="0" tIns="0" rIns="0" bIns="0" rtlCol="0" anchor="t"/>
          <a:lstStyle/>
          <a:p>
            <a:pPr marL="0" indent="0">
              <a:buNone/>
            </a:pPr>
            <a:r>
              <a:rPr lang="en-US" sz="1500" b="1" dirty="0">
                <a:solidFill>
                  <a:srgbClr val="1B2B34"/>
                </a:solidFill>
                <a:latin typeface="Calibri" pitchFamily="34" charset="0"/>
                <a:ea typeface="Calibri" pitchFamily="34" charset="-122"/>
                <a:cs typeface="Calibri" pitchFamily="34" charset="-120"/>
              </a:rPr>
              <a:t>FocusFlow</a:t>
            </a:r>
            <a:endParaRPr lang="en-US" sz="1500" dirty="0"/>
          </a:p>
          <a:p>
            <a:pPr marL="0" indent="0">
              <a:buNone/>
            </a:pPr>
            <a:r>
              <a:rPr lang="en-US" sz="1200" dirty="0">
                <a:solidFill>
                  <a:srgbClr val="5B6B73"/>
                </a:solidFill>
                <a:latin typeface="Calibri" pitchFamily="34" charset="0"/>
                <a:ea typeface="Calibri" pitchFamily="34" charset="-122"/>
                <a:cs typeface="Calibri" pitchFamily="34" charset="-120"/>
              </a:rPr>
              <a:t>Healthy Screen Habit Manager</a:t>
            </a:r>
            <a:endParaRPr lang="en-US" sz="1500" dirty="0"/>
          </a:p>
        </p:txBody>
      </p:sp>
      <p:sp>
        <p:nvSpPr>
          <p:cNvPr id="34" name="Shape 29"/>
          <p:cNvSpPr/>
          <p:nvPr/>
        </p:nvSpPr>
        <p:spPr>
          <a:xfrm>
            <a:off x="6428232" y="4937760"/>
            <a:ext cx="384048" cy="384048"/>
          </a:xfrm>
          <a:prstGeom prst="ellipse">
            <a:avLst/>
          </a:prstGeom>
          <a:solidFill>
            <a:srgbClr val="C2620A"/>
          </a:solidFill>
          <a:ln/>
        </p:spPr>
      </p:sp>
      <p:sp>
        <p:nvSpPr>
          <p:cNvPr id="35" name="Text 30"/>
          <p:cNvSpPr txBox="1"/>
          <p:nvPr/>
        </p:nvSpPr>
        <p:spPr>
          <a:xfrm>
            <a:off x="6428232" y="49377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6" name="Text 31"/>
          <p:cNvSpPr txBox="1"/>
          <p:nvPr/>
        </p:nvSpPr>
        <p:spPr>
          <a:xfrm>
            <a:off x="6931152" y="4919472"/>
            <a:ext cx="1691640" cy="914400"/>
          </a:xfrm>
          <a:prstGeom prst="rect">
            <a:avLst/>
          </a:prstGeom>
          <a:noFill/>
          <a:ln/>
        </p:spPr>
        <p:txBody>
          <a:bodyPr wrap="square" lIns="0" tIns="0" rIns="0" bIns="0" rtlCol="0" anchor="t"/>
          <a:lstStyle/>
          <a:p>
            <a:pPr marL="0" indent="0">
              <a:buNone/>
            </a:pPr>
            <a:r>
              <a:rPr lang="en-US" sz="1500" b="1" dirty="0">
                <a:solidFill>
                  <a:srgbClr val="1B2B34"/>
                </a:solidFill>
                <a:latin typeface="Calibri" pitchFamily="34" charset="0"/>
                <a:ea typeface="Calibri" pitchFamily="34" charset="-122"/>
                <a:cs typeface="Calibri" pitchFamily="34" charset="-120"/>
              </a:rPr>
              <a:t>Screen Survivor</a:t>
            </a:r>
            <a:endParaRPr lang="en-US" sz="1500" dirty="0"/>
          </a:p>
          <a:p>
            <a:pPr marL="0" indent="0">
              <a:buNone/>
            </a:pPr>
            <a:r>
              <a:rPr lang="en-US" sz="1200" dirty="0">
                <a:solidFill>
                  <a:srgbClr val="5B6B73"/>
                </a:solidFill>
                <a:latin typeface="Calibri" pitchFamily="34" charset="0"/>
                <a:ea typeface="Calibri" pitchFamily="34" charset="-122"/>
                <a:cs typeface="Calibri" pitchFamily="34" charset="-120"/>
              </a:rPr>
              <a:t>Attention Management System</a:t>
            </a:r>
            <a:endParaRPr lang="en-US" sz="1500" dirty="0"/>
          </a:p>
        </p:txBody>
      </p:sp>
      <p:sp>
        <p:nvSpPr>
          <p:cNvPr id="37" name="Shape 32"/>
          <p:cNvSpPr/>
          <p:nvPr/>
        </p:nvSpPr>
        <p:spPr>
          <a:xfrm>
            <a:off x="9025128" y="1783080"/>
            <a:ext cx="2606040" cy="4434840"/>
          </a:xfrm>
          <a:prstGeom prst="rect">
            <a:avLst/>
          </a:prstGeom>
          <a:solidFill>
            <a:srgbClr val="FFFFFF"/>
          </a:solidFill>
          <a:ln/>
          <a:effectLst>
            <a:outerShdw blurRad="101600" dist="25400" dir="5400000" algn="bl" rotWithShape="0">
              <a:srgbClr val="000000">
                <a:alpha val="12000"/>
              </a:srgbClr>
            </a:outerShdw>
          </a:effectLst>
        </p:spPr>
      </p:sp>
      <p:sp>
        <p:nvSpPr>
          <p:cNvPr id="38" name="Shape 33"/>
          <p:cNvSpPr/>
          <p:nvPr/>
        </p:nvSpPr>
        <p:spPr>
          <a:xfrm>
            <a:off x="9025128" y="1783080"/>
            <a:ext cx="2606040" cy="1691640"/>
          </a:xfrm>
          <a:prstGeom prst="rect">
            <a:avLst/>
          </a:prstGeom>
          <a:solidFill>
            <a:srgbClr val="C0392B"/>
          </a:solidFill>
          <a:ln/>
        </p:spPr>
      </p:sp>
      <p:pic>
        <p:nvPicPr>
          <p:cNvPr id="39" name="Image 3" descr="preencoded.png"/>
          <p:cNvPicPr>
            <a:picLocks noChangeAspect="1"/>
          </p:cNvPicPr>
          <p:nvPr/>
        </p:nvPicPr>
        <p:blipFill>
          <a:blip r:embed="rId6"/>
          <a:stretch>
            <a:fillRect/>
          </a:stretch>
        </p:blipFill>
        <p:spPr>
          <a:xfrm>
            <a:off x="9253728" y="2011680"/>
            <a:ext cx="457200" cy="457200"/>
          </a:xfrm>
          <a:prstGeom prst="rect">
            <a:avLst/>
          </a:prstGeom>
        </p:spPr>
      </p:pic>
      <p:sp>
        <p:nvSpPr>
          <p:cNvPr id="40" name="Text 34"/>
          <p:cNvSpPr txBox="1"/>
          <p:nvPr/>
        </p:nvSpPr>
        <p:spPr>
          <a:xfrm>
            <a:off x="9253728" y="2606040"/>
            <a:ext cx="2148840" cy="256032"/>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TRACK D</a:t>
            </a:r>
            <a:endParaRPr lang="en-US" sz="1200" dirty="0"/>
          </a:p>
        </p:txBody>
      </p:sp>
      <p:sp>
        <p:nvSpPr>
          <p:cNvPr id="41" name="Text 35"/>
          <p:cNvSpPr txBox="1"/>
          <p:nvPr/>
        </p:nvSpPr>
        <p:spPr>
          <a:xfrm>
            <a:off x="9253728" y="2862072"/>
            <a:ext cx="2148840" cy="54864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Tech for Safe Campuses</a:t>
            </a:r>
            <a:endParaRPr lang="en-US" sz="1700" dirty="0"/>
          </a:p>
        </p:txBody>
      </p:sp>
      <p:sp>
        <p:nvSpPr>
          <p:cNvPr id="42" name="Shape 36"/>
          <p:cNvSpPr/>
          <p:nvPr/>
        </p:nvSpPr>
        <p:spPr>
          <a:xfrm>
            <a:off x="9253728" y="3749040"/>
            <a:ext cx="384048" cy="384048"/>
          </a:xfrm>
          <a:prstGeom prst="ellipse">
            <a:avLst/>
          </a:prstGeom>
          <a:solidFill>
            <a:srgbClr val="C0392B"/>
          </a:solidFill>
          <a:ln/>
        </p:spPr>
      </p:sp>
      <p:sp>
        <p:nvSpPr>
          <p:cNvPr id="43" name="Text 37"/>
          <p:cNvSpPr txBox="1"/>
          <p:nvPr/>
        </p:nvSpPr>
        <p:spPr>
          <a:xfrm>
            <a:off x="9253728" y="37490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4" name="Text 38"/>
          <p:cNvSpPr txBox="1"/>
          <p:nvPr/>
        </p:nvSpPr>
        <p:spPr>
          <a:xfrm>
            <a:off x="9756648" y="3730752"/>
            <a:ext cx="1691640" cy="914400"/>
          </a:xfrm>
          <a:prstGeom prst="rect">
            <a:avLst/>
          </a:prstGeom>
          <a:noFill/>
          <a:ln/>
        </p:spPr>
        <p:txBody>
          <a:bodyPr wrap="square" lIns="0" tIns="0" rIns="0" bIns="0" rtlCol="0" anchor="t"/>
          <a:lstStyle/>
          <a:p>
            <a:pPr marL="0" indent="0">
              <a:buNone/>
            </a:pPr>
            <a:r>
              <a:rPr lang="en-US" sz="1500" b="1" dirty="0">
                <a:solidFill>
                  <a:srgbClr val="1B2B34"/>
                </a:solidFill>
                <a:latin typeface="Calibri" pitchFamily="34" charset="0"/>
                <a:ea typeface="Calibri" pitchFamily="34" charset="-122"/>
                <a:cs typeface="Calibri" pitchFamily="34" charset="-120"/>
              </a:rPr>
              <a:t>CampusCare</a:t>
            </a:r>
            <a:endParaRPr lang="en-US" sz="1500" dirty="0"/>
          </a:p>
          <a:p>
            <a:pPr marL="0" indent="0">
              <a:buNone/>
            </a:pPr>
            <a:r>
              <a:rPr lang="en-US" sz="1200" dirty="0">
                <a:solidFill>
                  <a:srgbClr val="5B6B73"/>
                </a:solidFill>
                <a:latin typeface="Calibri" pitchFamily="34" charset="0"/>
                <a:ea typeface="Calibri" pitchFamily="34" charset="-122"/>
                <a:cs typeface="Calibri" pitchFamily="34" charset="-120"/>
              </a:rPr>
              <a:t>Anonymous Safety Support Portal</a:t>
            </a:r>
            <a:endParaRPr lang="en-US" sz="1500" dirty="0"/>
          </a:p>
        </p:txBody>
      </p:sp>
      <p:sp>
        <p:nvSpPr>
          <p:cNvPr id="45" name="Shape 39"/>
          <p:cNvSpPr/>
          <p:nvPr/>
        </p:nvSpPr>
        <p:spPr>
          <a:xfrm>
            <a:off x="9253728" y="4937760"/>
            <a:ext cx="384048" cy="384048"/>
          </a:xfrm>
          <a:prstGeom prst="ellipse">
            <a:avLst/>
          </a:prstGeom>
          <a:solidFill>
            <a:srgbClr val="C0392B"/>
          </a:solidFill>
          <a:ln/>
        </p:spPr>
      </p:sp>
      <p:sp>
        <p:nvSpPr>
          <p:cNvPr id="46" name="Text 40"/>
          <p:cNvSpPr txBox="1"/>
          <p:nvPr/>
        </p:nvSpPr>
        <p:spPr>
          <a:xfrm>
            <a:off x="9253728" y="49377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7" name="Text 41"/>
          <p:cNvSpPr txBox="1"/>
          <p:nvPr/>
        </p:nvSpPr>
        <p:spPr>
          <a:xfrm>
            <a:off x="9756648" y="4919472"/>
            <a:ext cx="1691640" cy="914400"/>
          </a:xfrm>
          <a:prstGeom prst="rect">
            <a:avLst/>
          </a:prstGeom>
          <a:noFill/>
          <a:ln/>
        </p:spPr>
        <p:txBody>
          <a:bodyPr wrap="square" lIns="0" tIns="0" rIns="0" bIns="0" rtlCol="0" anchor="t"/>
          <a:lstStyle/>
          <a:p>
            <a:pPr marL="0" indent="0">
              <a:buNone/>
            </a:pPr>
            <a:r>
              <a:rPr lang="en-US" sz="1500" b="1" dirty="0">
                <a:solidFill>
                  <a:srgbClr val="1B2B34"/>
                </a:solidFill>
                <a:latin typeface="Calibri" pitchFamily="34" charset="0"/>
                <a:ea typeface="Calibri" pitchFamily="34" charset="-122"/>
                <a:cs typeface="Calibri" pitchFamily="34" charset="-120"/>
              </a:rPr>
              <a:t>The 10-Minute Crisis</a:t>
            </a:r>
            <a:endParaRPr lang="en-US" sz="1500" dirty="0"/>
          </a:p>
          <a:p>
            <a:pPr marL="0" indent="0">
              <a:buNone/>
            </a:pPr>
            <a:r>
              <a:rPr lang="en-US" sz="1200" dirty="0">
                <a:solidFill>
                  <a:srgbClr val="5B6B73"/>
                </a:solidFill>
                <a:latin typeface="Calibri" pitchFamily="34" charset="0"/>
                <a:ea typeface="Calibri" pitchFamily="34" charset="-122"/>
                <a:cs typeface="Calibri" pitchFamily="34" charset="-120"/>
              </a:rPr>
              <a:t>Crisis Decision Engine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9"/>
        </a:solidFill>
        <a:effectLst/>
      </p:bgPr>
    </p:bg>
    <p:spTree>
      <p:nvGrpSpPr>
        <p:cNvPr id="1" name=""/>
        <p:cNvGrpSpPr/>
        <p:nvPr/>
      </p:nvGrpSpPr>
      <p:grpSpPr>
        <a:xfrm>
          <a:off x="0" y="0"/>
          <a:ext cx="0" cy="0"/>
          <a:chOff x="0" y="0"/>
          <a:chExt cx="0" cy="0"/>
        </a:xfrm>
      </p:grpSpPr>
      <p:sp>
        <p:nvSpPr>
          <p:cNvPr id="2" name="Shape 0"/>
          <p:cNvSpPr/>
          <p:nvPr/>
        </p:nvSpPr>
        <p:spPr>
          <a:xfrm>
            <a:off x="0" y="0"/>
            <a:ext cx="4572000" cy="6858000"/>
          </a:xfrm>
          <a:prstGeom prst="rect">
            <a:avLst/>
          </a:prstGeom>
          <a:solidFill>
            <a:srgbClr val="0E2A35"/>
          </a:solidFill>
          <a:ln/>
        </p:spPr>
      </p:sp>
      <p:sp>
        <p:nvSpPr>
          <p:cNvPr id="3" name="Shape 1"/>
          <p:cNvSpPr/>
          <p:nvPr/>
        </p:nvSpPr>
        <p:spPr>
          <a:xfrm>
            <a:off x="457200" y="457200"/>
            <a:ext cx="502920" cy="502920"/>
          </a:xfrm>
          <a:prstGeom prst="ellipse">
            <a:avLst/>
          </a:prstGeom>
          <a:solidFill>
            <a:srgbClr val="0F8B78"/>
          </a:solidFill>
          <a:ln/>
        </p:spPr>
      </p:sp>
      <p:pic>
        <p:nvPicPr>
          <p:cNvPr id="4" name="Image 0" descr="preencoded.png"/>
          <p:cNvPicPr>
            <a:picLocks noChangeAspect="1"/>
          </p:cNvPicPr>
          <p:nvPr/>
        </p:nvPicPr>
        <p:blipFill>
          <a:blip r:embed="rId3"/>
          <a:stretch>
            <a:fillRect/>
          </a:stretch>
        </p:blipFill>
        <p:spPr>
          <a:xfrm>
            <a:off x="576072" y="576072"/>
            <a:ext cx="265176" cy="265176"/>
          </a:xfrm>
          <a:prstGeom prst="rect">
            <a:avLst/>
          </a:prstGeom>
        </p:spPr>
      </p:pic>
      <p:sp>
        <p:nvSpPr>
          <p:cNvPr id="5" name="Text 2"/>
          <p:cNvSpPr txBox="1"/>
          <p:nvPr/>
        </p:nvSpPr>
        <p:spPr>
          <a:xfrm>
            <a:off x="1143000" y="457200"/>
            <a:ext cx="3017520" cy="502920"/>
          </a:xfrm>
          <a:prstGeom prst="rect">
            <a:avLst/>
          </a:prstGeom>
          <a:noFill/>
          <a:ln/>
        </p:spPr>
        <p:txBody>
          <a:bodyPr wrap="square" lIns="0" tIns="0" rIns="0" bIns="0" rtlCol="0" anchor="ctr"/>
          <a:lstStyle/>
          <a:p>
            <a:pPr marL="0" indent="0">
              <a:buNone/>
            </a:pPr>
            <a:r>
              <a:rPr lang="en-US" sz="1400" b="1" kern="0" spc="300" dirty="0">
                <a:solidFill>
                  <a:srgbClr val="7FD6C8"/>
                </a:solidFill>
                <a:latin typeface="Calibri" pitchFamily="34" charset="0"/>
                <a:ea typeface="Calibri" pitchFamily="34" charset="-122"/>
                <a:cs typeface="Calibri" pitchFamily="34" charset="-120"/>
              </a:rPr>
              <a:t>PROBLEM 01</a:t>
            </a:r>
            <a:endParaRPr lang="en-US" sz="1400" dirty="0"/>
          </a:p>
        </p:txBody>
      </p:sp>
      <p:sp>
        <p:nvSpPr>
          <p:cNvPr id="6" name="Text 3"/>
          <p:cNvSpPr txBox="1"/>
          <p:nvPr/>
        </p:nvSpPr>
        <p:spPr>
          <a:xfrm>
            <a:off x="457200" y="1188720"/>
            <a:ext cx="3657600" cy="914400"/>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Recovery Resource Navigator</a:t>
            </a:r>
            <a:endParaRPr lang="en-US" sz="2600" dirty="0"/>
          </a:p>
        </p:txBody>
      </p:sp>
      <p:sp>
        <p:nvSpPr>
          <p:cNvPr id="7" name="Shape 4"/>
          <p:cNvSpPr/>
          <p:nvPr/>
        </p:nvSpPr>
        <p:spPr>
          <a:xfrm>
            <a:off x="457200" y="2240280"/>
            <a:ext cx="2482596" cy="347472"/>
          </a:xfrm>
          <a:prstGeom prst="roundRect">
            <a:avLst>
              <a:gd name="adj" fmla="val 50000"/>
            </a:avLst>
          </a:prstGeom>
          <a:solidFill>
            <a:srgbClr val="0F8B78"/>
          </a:solidFill>
          <a:ln/>
        </p:spPr>
      </p:sp>
      <p:sp>
        <p:nvSpPr>
          <p:cNvPr id="8" name="Text 5"/>
          <p:cNvSpPr txBox="1"/>
          <p:nvPr/>
        </p:nvSpPr>
        <p:spPr>
          <a:xfrm>
            <a:off x="457200" y="2240280"/>
            <a:ext cx="2482596"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Track A  ·  Tech for Recovery</a:t>
            </a:r>
            <a:endParaRPr lang="en-US" sz="1200" dirty="0"/>
          </a:p>
        </p:txBody>
      </p:sp>
      <p:sp>
        <p:nvSpPr>
          <p:cNvPr id="9" name="Text 6"/>
          <p:cNvSpPr txBox="1"/>
          <p:nvPr/>
        </p:nvSpPr>
        <p:spPr>
          <a:xfrm>
            <a:off x="457200" y="2834640"/>
            <a:ext cx="3657600" cy="274320"/>
          </a:xfrm>
          <a:prstGeom prst="rect">
            <a:avLst/>
          </a:prstGeom>
          <a:noFill/>
          <a:ln/>
        </p:spPr>
        <p:txBody>
          <a:bodyPr wrap="square" lIns="0" tIns="0" rIns="0" bIns="0" rtlCol="0" anchor="ctr"/>
          <a:lstStyle/>
          <a:p>
            <a:pPr marL="0" indent="0">
              <a:buNone/>
            </a:pPr>
            <a:r>
              <a:rPr lang="en-US" sz="1200" b="1" kern="0" spc="300" dirty="0">
                <a:solidFill>
                  <a:srgbClr val="7FD6C8"/>
                </a:solidFill>
                <a:latin typeface="Calibri" pitchFamily="34" charset="0"/>
                <a:ea typeface="Calibri" pitchFamily="34" charset="-122"/>
                <a:cs typeface="Calibri" pitchFamily="34" charset="-120"/>
              </a:rPr>
              <a:t>THE CHALLENGE</a:t>
            </a:r>
            <a:endParaRPr lang="en-US" sz="1200" dirty="0"/>
          </a:p>
        </p:txBody>
      </p:sp>
      <p:sp>
        <p:nvSpPr>
          <p:cNvPr id="10" name="Text 7"/>
          <p:cNvSpPr txBox="1"/>
          <p:nvPr/>
        </p:nvSpPr>
        <p:spPr>
          <a:xfrm>
            <a:off x="457200" y="3154680"/>
            <a:ext cx="3657600" cy="3337560"/>
          </a:xfrm>
          <a:prstGeom prst="rect">
            <a:avLst/>
          </a:prstGeom>
          <a:noFill/>
          <a:ln/>
        </p:spPr>
        <p:txBody>
          <a:bodyPr wrap="square" lIns="0" tIns="0" rIns="0" bIns="0" rtlCol="0" anchor="t"/>
          <a:lstStyle/>
          <a:p>
            <a:pPr marL="0" indent="0">
              <a:buNone/>
            </a:pPr>
            <a:r>
              <a:rPr lang="en-US" sz="1300" dirty="0">
                <a:solidFill>
                  <a:srgbClr val="E6EEF1"/>
                </a:solidFill>
                <a:latin typeface="Calibri" pitchFamily="34" charset="0"/>
                <a:ea typeface="Calibri" pitchFamily="34" charset="-122"/>
                <a:cs typeface="Calibri" pitchFamily="34" charset="-120"/>
              </a:rPr>
              <a:t>Students may not know where to find trustworthy recovery-related information, counselling services, helplines, rehabilitation resources, or support organisations. Existing information may be scattered, outdated, difficult to filter, or inaccessible to students who need immediate guidance. Build a user-friendly platform that brings verified recovery and support resources into one searchable interface. The system should help users discover relevant services without diagnosing them or collecting unnecessary personal information. The solution should focus on information access, service discovery, accessibility, and responsible referral.</a:t>
            </a:r>
            <a:endParaRPr lang="en-US" sz="1300" dirty="0"/>
          </a:p>
        </p:txBody>
      </p:sp>
      <p:sp>
        <p:nvSpPr>
          <p:cNvPr id="11" name="Text 8"/>
          <p:cNvSpPr txBox="1"/>
          <p:nvPr/>
        </p:nvSpPr>
        <p:spPr>
          <a:xfrm>
            <a:off x="5120640" y="457200"/>
            <a:ext cx="6400800" cy="548640"/>
          </a:xfrm>
          <a:prstGeom prst="rect">
            <a:avLst/>
          </a:prstGeom>
          <a:noFill/>
          <a:ln/>
        </p:spPr>
        <p:txBody>
          <a:bodyPr wrap="square" lIns="0" tIns="0" rIns="0" bIns="0" rtlCol="0" anchor="ctr"/>
          <a:lstStyle/>
          <a:p>
            <a:pPr marL="0" indent="0">
              <a:buNone/>
            </a:pPr>
            <a:r>
              <a:rPr lang="en-US" sz="2600" b="1" dirty="0">
                <a:solidFill>
                  <a:srgbClr val="0E2A35"/>
                </a:solidFill>
                <a:latin typeface="Cambria" pitchFamily="34" charset="0"/>
                <a:ea typeface="Cambria" pitchFamily="34" charset="-122"/>
                <a:cs typeface="Cambria" pitchFamily="34" charset="-120"/>
              </a:rPr>
              <a:t>10 Required Deliverables</a:t>
            </a:r>
            <a:endParaRPr lang="en-US" sz="2600" dirty="0"/>
          </a:p>
        </p:txBody>
      </p:sp>
      <p:sp>
        <p:nvSpPr>
          <p:cNvPr id="12" name="Shape 9"/>
          <p:cNvSpPr/>
          <p:nvPr/>
        </p:nvSpPr>
        <p:spPr>
          <a:xfrm>
            <a:off x="5120640" y="1280160"/>
            <a:ext cx="3154680" cy="786384"/>
          </a:xfrm>
          <a:prstGeom prst="roundRect">
            <a:avLst>
              <a:gd name="adj" fmla="val 11628"/>
            </a:avLst>
          </a:prstGeom>
          <a:solidFill>
            <a:srgbClr val="E2F2EF"/>
          </a:solidFill>
          <a:ln/>
        </p:spPr>
      </p:sp>
      <p:sp>
        <p:nvSpPr>
          <p:cNvPr id="13" name="Shape 10"/>
          <p:cNvSpPr/>
          <p:nvPr/>
        </p:nvSpPr>
        <p:spPr>
          <a:xfrm>
            <a:off x="5257800" y="1444752"/>
            <a:ext cx="457200" cy="457200"/>
          </a:xfrm>
          <a:prstGeom prst="ellipse">
            <a:avLst/>
          </a:prstGeom>
          <a:solidFill>
            <a:srgbClr val="0F8B78"/>
          </a:solidFill>
          <a:ln/>
        </p:spPr>
      </p:sp>
      <p:sp>
        <p:nvSpPr>
          <p:cNvPr id="14" name="Text 11"/>
          <p:cNvSpPr txBox="1"/>
          <p:nvPr/>
        </p:nvSpPr>
        <p:spPr>
          <a:xfrm>
            <a:off x="5257800" y="1444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5" name="Text 12"/>
          <p:cNvSpPr txBox="1"/>
          <p:nvPr/>
        </p:nvSpPr>
        <p:spPr>
          <a:xfrm>
            <a:off x="5833872" y="13075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Searchable directory of verified recovery and support services</a:t>
            </a:r>
            <a:endParaRPr lang="en-US" sz="1400" dirty="0"/>
          </a:p>
        </p:txBody>
      </p:sp>
      <p:sp>
        <p:nvSpPr>
          <p:cNvPr id="16" name="Shape 13"/>
          <p:cNvSpPr/>
          <p:nvPr/>
        </p:nvSpPr>
        <p:spPr>
          <a:xfrm>
            <a:off x="5120640" y="2194560"/>
            <a:ext cx="3154680" cy="786384"/>
          </a:xfrm>
          <a:prstGeom prst="roundRect">
            <a:avLst>
              <a:gd name="adj" fmla="val 11628"/>
            </a:avLst>
          </a:prstGeom>
          <a:solidFill>
            <a:srgbClr val="E2F2EF"/>
          </a:solidFill>
          <a:ln/>
        </p:spPr>
      </p:sp>
      <p:sp>
        <p:nvSpPr>
          <p:cNvPr id="17" name="Shape 14"/>
          <p:cNvSpPr/>
          <p:nvPr/>
        </p:nvSpPr>
        <p:spPr>
          <a:xfrm>
            <a:off x="5257800" y="2359152"/>
            <a:ext cx="457200" cy="457200"/>
          </a:xfrm>
          <a:prstGeom prst="ellipse">
            <a:avLst/>
          </a:prstGeom>
          <a:solidFill>
            <a:srgbClr val="0F8B78"/>
          </a:solidFill>
          <a:ln/>
        </p:spPr>
      </p:sp>
      <p:sp>
        <p:nvSpPr>
          <p:cNvPr id="18" name="Text 15"/>
          <p:cNvSpPr txBox="1"/>
          <p:nvPr/>
        </p:nvSpPr>
        <p:spPr>
          <a:xfrm>
            <a:off x="5257800" y="23591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9" name="Text 16"/>
          <p:cNvSpPr txBox="1"/>
          <p:nvPr/>
        </p:nvSpPr>
        <p:spPr>
          <a:xfrm>
            <a:off x="5833872" y="22219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Filters for service type, location, cost, eligibility, and availability</a:t>
            </a:r>
            <a:endParaRPr lang="en-US" sz="1400" dirty="0"/>
          </a:p>
        </p:txBody>
      </p:sp>
      <p:sp>
        <p:nvSpPr>
          <p:cNvPr id="20" name="Shape 17"/>
          <p:cNvSpPr/>
          <p:nvPr/>
        </p:nvSpPr>
        <p:spPr>
          <a:xfrm>
            <a:off x="5120640" y="3108960"/>
            <a:ext cx="3154680" cy="786384"/>
          </a:xfrm>
          <a:prstGeom prst="roundRect">
            <a:avLst>
              <a:gd name="adj" fmla="val 11628"/>
            </a:avLst>
          </a:prstGeom>
          <a:solidFill>
            <a:srgbClr val="E2F2EF"/>
          </a:solidFill>
          <a:ln/>
        </p:spPr>
      </p:sp>
      <p:sp>
        <p:nvSpPr>
          <p:cNvPr id="21" name="Shape 18"/>
          <p:cNvSpPr/>
          <p:nvPr/>
        </p:nvSpPr>
        <p:spPr>
          <a:xfrm>
            <a:off x="5257800" y="3273552"/>
            <a:ext cx="457200" cy="457200"/>
          </a:xfrm>
          <a:prstGeom prst="ellipse">
            <a:avLst/>
          </a:prstGeom>
          <a:solidFill>
            <a:srgbClr val="0F8B78"/>
          </a:solidFill>
          <a:ln/>
        </p:spPr>
      </p:sp>
      <p:sp>
        <p:nvSpPr>
          <p:cNvPr id="22" name="Text 19"/>
          <p:cNvSpPr txBox="1"/>
          <p:nvPr/>
        </p:nvSpPr>
        <p:spPr>
          <a:xfrm>
            <a:off x="5257800" y="3273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3" name="Text 20"/>
          <p:cNvSpPr txBox="1"/>
          <p:nvPr/>
        </p:nvSpPr>
        <p:spPr>
          <a:xfrm>
            <a:off x="5833872" y="31363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Emergency contact and helpline access</a:t>
            </a:r>
            <a:endParaRPr lang="en-US" sz="1400" dirty="0"/>
          </a:p>
        </p:txBody>
      </p:sp>
      <p:sp>
        <p:nvSpPr>
          <p:cNvPr id="24" name="Shape 21"/>
          <p:cNvSpPr/>
          <p:nvPr/>
        </p:nvSpPr>
        <p:spPr>
          <a:xfrm>
            <a:off x="5120640" y="4023360"/>
            <a:ext cx="3154680" cy="786384"/>
          </a:xfrm>
          <a:prstGeom prst="roundRect">
            <a:avLst>
              <a:gd name="adj" fmla="val 11628"/>
            </a:avLst>
          </a:prstGeom>
          <a:solidFill>
            <a:srgbClr val="E2F2EF"/>
          </a:solidFill>
          <a:ln/>
        </p:spPr>
      </p:sp>
      <p:sp>
        <p:nvSpPr>
          <p:cNvPr id="25" name="Shape 22"/>
          <p:cNvSpPr/>
          <p:nvPr/>
        </p:nvSpPr>
        <p:spPr>
          <a:xfrm>
            <a:off x="5257800" y="4187952"/>
            <a:ext cx="457200" cy="457200"/>
          </a:xfrm>
          <a:prstGeom prst="ellipse">
            <a:avLst/>
          </a:prstGeom>
          <a:solidFill>
            <a:srgbClr val="0F8B78"/>
          </a:solidFill>
          <a:ln/>
        </p:spPr>
      </p:sp>
      <p:sp>
        <p:nvSpPr>
          <p:cNvPr id="26" name="Text 23"/>
          <p:cNvSpPr txBox="1"/>
          <p:nvPr/>
        </p:nvSpPr>
        <p:spPr>
          <a:xfrm>
            <a:off x="5257800" y="41879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7" name="Text 24"/>
          <p:cNvSpPr txBox="1"/>
          <p:nvPr/>
        </p:nvSpPr>
        <p:spPr>
          <a:xfrm>
            <a:off x="5833872" y="40507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Detailed resource pages with description and eligibility information</a:t>
            </a:r>
            <a:endParaRPr lang="en-US" sz="1400" dirty="0"/>
          </a:p>
        </p:txBody>
      </p:sp>
      <p:sp>
        <p:nvSpPr>
          <p:cNvPr id="28" name="Shape 25"/>
          <p:cNvSpPr/>
          <p:nvPr/>
        </p:nvSpPr>
        <p:spPr>
          <a:xfrm>
            <a:off x="5120640" y="4937760"/>
            <a:ext cx="3154680" cy="786384"/>
          </a:xfrm>
          <a:prstGeom prst="roundRect">
            <a:avLst>
              <a:gd name="adj" fmla="val 11628"/>
            </a:avLst>
          </a:prstGeom>
          <a:solidFill>
            <a:srgbClr val="E2F2EF"/>
          </a:solidFill>
          <a:ln/>
        </p:spPr>
      </p:sp>
      <p:sp>
        <p:nvSpPr>
          <p:cNvPr id="29" name="Shape 26"/>
          <p:cNvSpPr/>
          <p:nvPr/>
        </p:nvSpPr>
        <p:spPr>
          <a:xfrm>
            <a:off x="5257800" y="5102352"/>
            <a:ext cx="457200" cy="457200"/>
          </a:xfrm>
          <a:prstGeom prst="ellipse">
            <a:avLst/>
          </a:prstGeom>
          <a:solidFill>
            <a:srgbClr val="0F8B78"/>
          </a:solidFill>
          <a:ln/>
        </p:spPr>
      </p:sp>
      <p:sp>
        <p:nvSpPr>
          <p:cNvPr id="30" name="Text 27"/>
          <p:cNvSpPr txBox="1"/>
          <p:nvPr/>
        </p:nvSpPr>
        <p:spPr>
          <a:xfrm>
            <a:off x="5257800" y="5102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8"/>
          <p:cNvSpPr txBox="1"/>
          <p:nvPr/>
        </p:nvSpPr>
        <p:spPr>
          <a:xfrm>
            <a:off x="5833872" y="49651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Map or location view for nearby support services</a:t>
            </a:r>
            <a:endParaRPr lang="en-US" sz="1400" dirty="0"/>
          </a:p>
        </p:txBody>
      </p:sp>
      <p:sp>
        <p:nvSpPr>
          <p:cNvPr id="32" name="Shape 29"/>
          <p:cNvSpPr/>
          <p:nvPr/>
        </p:nvSpPr>
        <p:spPr>
          <a:xfrm>
            <a:off x="8577072" y="1280160"/>
            <a:ext cx="3154680" cy="786384"/>
          </a:xfrm>
          <a:prstGeom prst="roundRect">
            <a:avLst>
              <a:gd name="adj" fmla="val 11628"/>
            </a:avLst>
          </a:prstGeom>
          <a:solidFill>
            <a:srgbClr val="E2F2EF"/>
          </a:solidFill>
          <a:ln/>
        </p:spPr>
      </p:sp>
      <p:sp>
        <p:nvSpPr>
          <p:cNvPr id="33" name="Shape 30"/>
          <p:cNvSpPr/>
          <p:nvPr/>
        </p:nvSpPr>
        <p:spPr>
          <a:xfrm>
            <a:off x="8714232" y="1444752"/>
            <a:ext cx="457200" cy="457200"/>
          </a:xfrm>
          <a:prstGeom prst="ellipse">
            <a:avLst/>
          </a:prstGeom>
          <a:solidFill>
            <a:srgbClr val="0F8B78"/>
          </a:solidFill>
          <a:ln/>
        </p:spPr>
      </p:sp>
      <p:sp>
        <p:nvSpPr>
          <p:cNvPr id="34" name="Text 31"/>
          <p:cNvSpPr txBox="1"/>
          <p:nvPr/>
        </p:nvSpPr>
        <p:spPr>
          <a:xfrm>
            <a:off x="8714232" y="1444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5" name="Text 32"/>
          <p:cNvSpPr txBox="1"/>
          <p:nvPr/>
        </p:nvSpPr>
        <p:spPr>
          <a:xfrm>
            <a:off x="9290304" y="13075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Bookmark or save useful resources</a:t>
            </a:r>
            <a:endParaRPr lang="en-US" sz="1400" dirty="0"/>
          </a:p>
        </p:txBody>
      </p:sp>
      <p:sp>
        <p:nvSpPr>
          <p:cNvPr id="36" name="Shape 33"/>
          <p:cNvSpPr/>
          <p:nvPr/>
        </p:nvSpPr>
        <p:spPr>
          <a:xfrm>
            <a:off x="8577072" y="2194560"/>
            <a:ext cx="3154680" cy="786384"/>
          </a:xfrm>
          <a:prstGeom prst="roundRect">
            <a:avLst>
              <a:gd name="adj" fmla="val 11628"/>
            </a:avLst>
          </a:prstGeom>
          <a:solidFill>
            <a:srgbClr val="E2F2EF"/>
          </a:solidFill>
          <a:ln/>
        </p:spPr>
      </p:sp>
      <p:sp>
        <p:nvSpPr>
          <p:cNvPr id="37" name="Shape 34"/>
          <p:cNvSpPr/>
          <p:nvPr/>
        </p:nvSpPr>
        <p:spPr>
          <a:xfrm>
            <a:off x="8714232" y="2359152"/>
            <a:ext cx="457200" cy="457200"/>
          </a:xfrm>
          <a:prstGeom prst="ellipse">
            <a:avLst/>
          </a:prstGeom>
          <a:solidFill>
            <a:srgbClr val="0F8B78"/>
          </a:solidFill>
          <a:ln/>
        </p:spPr>
      </p:sp>
      <p:sp>
        <p:nvSpPr>
          <p:cNvPr id="38" name="Text 35"/>
          <p:cNvSpPr txBox="1"/>
          <p:nvPr/>
        </p:nvSpPr>
        <p:spPr>
          <a:xfrm>
            <a:off x="8714232" y="23591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9" name="Text 36"/>
          <p:cNvSpPr txBox="1"/>
          <p:nvPr/>
        </p:nvSpPr>
        <p:spPr>
          <a:xfrm>
            <a:off x="9290304" y="22219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Multilingual or simplified-language interface</a:t>
            </a:r>
            <a:endParaRPr lang="en-US" sz="1400" dirty="0"/>
          </a:p>
        </p:txBody>
      </p:sp>
      <p:sp>
        <p:nvSpPr>
          <p:cNvPr id="40" name="Shape 37"/>
          <p:cNvSpPr/>
          <p:nvPr/>
        </p:nvSpPr>
        <p:spPr>
          <a:xfrm>
            <a:off x="8577072" y="3108960"/>
            <a:ext cx="3154680" cy="786384"/>
          </a:xfrm>
          <a:prstGeom prst="roundRect">
            <a:avLst>
              <a:gd name="adj" fmla="val 11628"/>
            </a:avLst>
          </a:prstGeom>
          <a:solidFill>
            <a:srgbClr val="E2F2EF"/>
          </a:solidFill>
          <a:ln/>
        </p:spPr>
      </p:sp>
      <p:sp>
        <p:nvSpPr>
          <p:cNvPr id="41" name="Shape 38"/>
          <p:cNvSpPr/>
          <p:nvPr/>
        </p:nvSpPr>
        <p:spPr>
          <a:xfrm>
            <a:off x="8714232" y="3273552"/>
            <a:ext cx="457200" cy="457200"/>
          </a:xfrm>
          <a:prstGeom prst="ellipse">
            <a:avLst/>
          </a:prstGeom>
          <a:solidFill>
            <a:srgbClr val="0F8B78"/>
          </a:solidFill>
          <a:ln/>
        </p:spPr>
      </p:sp>
      <p:sp>
        <p:nvSpPr>
          <p:cNvPr id="42" name="Text 39"/>
          <p:cNvSpPr txBox="1"/>
          <p:nvPr/>
        </p:nvSpPr>
        <p:spPr>
          <a:xfrm>
            <a:off x="8714232" y="3273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3" name="Text 40"/>
          <p:cNvSpPr txBox="1"/>
          <p:nvPr/>
        </p:nvSpPr>
        <p:spPr>
          <a:xfrm>
            <a:off x="9290304" y="31363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Option to report outdated or incorrect information</a:t>
            </a:r>
            <a:endParaRPr lang="en-US" sz="1400" dirty="0"/>
          </a:p>
        </p:txBody>
      </p:sp>
      <p:sp>
        <p:nvSpPr>
          <p:cNvPr id="44" name="Shape 41"/>
          <p:cNvSpPr/>
          <p:nvPr/>
        </p:nvSpPr>
        <p:spPr>
          <a:xfrm>
            <a:off x="8577072" y="4023360"/>
            <a:ext cx="3154680" cy="786384"/>
          </a:xfrm>
          <a:prstGeom prst="roundRect">
            <a:avLst>
              <a:gd name="adj" fmla="val 11628"/>
            </a:avLst>
          </a:prstGeom>
          <a:solidFill>
            <a:srgbClr val="E2F2EF"/>
          </a:solidFill>
          <a:ln/>
        </p:spPr>
      </p:sp>
      <p:sp>
        <p:nvSpPr>
          <p:cNvPr id="45" name="Shape 42"/>
          <p:cNvSpPr/>
          <p:nvPr/>
        </p:nvSpPr>
        <p:spPr>
          <a:xfrm>
            <a:off x="8714232" y="4187952"/>
            <a:ext cx="457200" cy="457200"/>
          </a:xfrm>
          <a:prstGeom prst="ellipse">
            <a:avLst/>
          </a:prstGeom>
          <a:solidFill>
            <a:srgbClr val="0F8B78"/>
          </a:solidFill>
          <a:ln/>
        </p:spPr>
      </p:sp>
      <p:sp>
        <p:nvSpPr>
          <p:cNvPr id="46" name="Text 43"/>
          <p:cNvSpPr txBox="1"/>
          <p:nvPr/>
        </p:nvSpPr>
        <p:spPr>
          <a:xfrm>
            <a:off x="8714232" y="41879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7" name="Text 44"/>
          <p:cNvSpPr txBox="1"/>
          <p:nvPr/>
        </p:nvSpPr>
        <p:spPr>
          <a:xfrm>
            <a:off x="9290304" y="40507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Admin interface for adding, editing, and reviewing resources</a:t>
            </a:r>
            <a:endParaRPr lang="en-US" sz="1400" dirty="0"/>
          </a:p>
        </p:txBody>
      </p:sp>
      <p:sp>
        <p:nvSpPr>
          <p:cNvPr id="48" name="Shape 45"/>
          <p:cNvSpPr/>
          <p:nvPr/>
        </p:nvSpPr>
        <p:spPr>
          <a:xfrm>
            <a:off x="8577072" y="4937760"/>
            <a:ext cx="3154680" cy="786384"/>
          </a:xfrm>
          <a:prstGeom prst="roundRect">
            <a:avLst>
              <a:gd name="adj" fmla="val 11628"/>
            </a:avLst>
          </a:prstGeom>
          <a:solidFill>
            <a:srgbClr val="E2F2EF"/>
          </a:solidFill>
          <a:ln/>
        </p:spPr>
      </p:sp>
      <p:sp>
        <p:nvSpPr>
          <p:cNvPr id="49" name="Shape 46"/>
          <p:cNvSpPr/>
          <p:nvPr/>
        </p:nvSpPr>
        <p:spPr>
          <a:xfrm>
            <a:off x="8714232" y="5102352"/>
            <a:ext cx="457200" cy="457200"/>
          </a:xfrm>
          <a:prstGeom prst="ellipse">
            <a:avLst/>
          </a:prstGeom>
          <a:solidFill>
            <a:srgbClr val="0F8B78"/>
          </a:solidFill>
          <a:ln/>
        </p:spPr>
      </p:sp>
      <p:sp>
        <p:nvSpPr>
          <p:cNvPr id="50" name="Text 47"/>
          <p:cNvSpPr txBox="1"/>
          <p:nvPr/>
        </p:nvSpPr>
        <p:spPr>
          <a:xfrm>
            <a:off x="8714232" y="5102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51" name="Text 48"/>
          <p:cNvSpPr txBox="1"/>
          <p:nvPr/>
        </p:nvSpPr>
        <p:spPr>
          <a:xfrm>
            <a:off x="9290304" y="49651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Verification date, source, and last-updated information for every resource</a:t>
            </a:r>
            <a:endParaRPr lang="en-US" sz="1400" dirty="0"/>
          </a:p>
        </p:txBody>
      </p:sp>
      <p:sp>
        <p:nvSpPr>
          <p:cNvPr id="52" name="Text 49"/>
          <p:cNvSpPr txBox="1"/>
          <p:nvPr/>
        </p:nvSpPr>
        <p:spPr>
          <a:xfrm>
            <a:off x="5120640" y="6355080"/>
            <a:ext cx="658368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BYTEQUEST |  Clear Mind. Clean Code.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9"/>
        </a:solidFill>
        <a:effectLst/>
      </p:bgPr>
    </p:bg>
    <p:spTree>
      <p:nvGrpSpPr>
        <p:cNvPr id="1" name=""/>
        <p:cNvGrpSpPr/>
        <p:nvPr/>
      </p:nvGrpSpPr>
      <p:grpSpPr>
        <a:xfrm>
          <a:off x="0" y="0"/>
          <a:ext cx="0" cy="0"/>
          <a:chOff x="0" y="0"/>
          <a:chExt cx="0" cy="0"/>
        </a:xfrm>
      </p:grpSpPr>
      <p:sp>
        <p:nvSpPr>
          <p:cNvPr id="2" name="Shape 0"/>
          <p:cNvSpPr/>
          <p:nvPr/>
        </p:nvSpPr>
        <p:spPr>
          <a:xfrm>
            <a:off x="0" y="0"/>
            <a:ext cx="4572000" cy="6858000"/>
          </a:xfrm>
          <a:prstGeom prst="rect">
            <a:avLst/>
          </a:prstGeom>
          <a:solidFill>
            <a:srgbClr val="0E2A35"/>
          </a:solidFill>
          <a:ln/>
        </p:spPr>
      </p:sp>
      <p:sp>
        <p:nvSpPr>
          <p:cNvPr id="3" name="Shape 1"/>
          <p:cNvSpPr/>
          <p:nvPr/>
        </p:nvSpPr>
        <p:spPr>
          <a:xfrm>
            <a:off x="457200" y="457200"/>
            <a:ext cx="502920" cy="502920"/>
          </a:xfrm>
          <a:prstGeom prst="ellipse">
            <a:avLst/>
          </a:prstGeom>
          <a:solidFill>
            <a:srgbClr val="C0392B"/>
          </a:solidFill>
          <a:ln/>
        </p:spPr>
      </p:sp>
      <p:pic>
        <p:nvPicPr>
          <p:cNvPr id="4" name="Image 0" descr="preencoded.png"/>
          <p:cNvPicPr>
            <a:picLocks noChangeAspect="1"/>
          </p:cNvPicPr>
          <p:nvPr/>
        </p:nvPicPr>
        <p:blipFill>
          <a:blip r:embed="rId3"/>
          <a:stretch>
            <a:fillRect/>
          </a:stretch>
        </p:blipFill>
        <p:spPr>
          <a:xfrm>
            <a:off x="576072" y="576072"/>
            <a:ext cx="265176" cy="265176"/>
          </a:xfrm>
          <a:prstGeom prst="rect">
            <a:avLst/>
          </a:prstGeom>
        </p:spPr>
      </p:pic>
      <p:sp>
        <p:nvSpPr>
          <p:cNvPr id="5" name="Text 2"/>
          <p:cNvSpPr txBox="1"/>
          <p:nvPr/>
        </p:nvSpPr>
        <p:spPr>
          <a:xfrm>
            <a:off x="1143000" y="457200"/>
            <a:ext cx="3017520" cy="502920"/>
          </a:xfrm>
          <a:prstGeom prst="rect">
            <a:avLst/>
          </a:prstGeom>
          <a:noFill/>
          <a:ln/>
        </p:spPr>
        <p:txBody>
          <a:bodyPr wrap="square" lIns="0" tIns="0" rIns="0" bIns="0" rtlCol="0" anchor="ctr"/>
          <a:lstStyle/>
          <a:p>
            <a:pPr marL="0" indent="0">
              <a:buNone/>
            </a:pPr>
            <a:r>
              <a:rPr lang="en-US" sz="1400" b="1" kern="0" spc="300" dirty="0">
                <a:solidFill>
                  <a:srgbClr val="7FD6C8"/>
                </a:solidFill>
                <a:latin typeface="Calibri" pitchFamily="34" charset="0"/>
                <a:ea typeface="Calibri" pitchFamily="34" charset="-122"/>
                <a:cs typeface="Calibri" pitchFamily="34" charset="-120"/>
              </a:rPr>
              <a:t>PROBLEM 02</a:t>
            </a:r>
            <a:endParaRPr lang="en-US" sz="1400" dirty="0"/>
          </a:p>
        </p:txBody>
      </p:sp>
      <p:sp>
        <p:nvSpPr>
          <p:cNvPr id="6" name="Text 3"/>
          <p:cNvSpPr txBox="1"/>
          <p:nvPr/>
        </p:nvSpPr>
        <p:spPr>
          <a:xfrm>
            <a:off x="457200" y="1188720"/>
            <a:ext cx="3657600" cy="457200"/>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CampusCare</a:t>
            </a:r>
            <a:endParaRPr lang="en-US" sz="2600" dirty="0"/>
          </a:p>
        </p:txBody>
      </p:sp>
      <p:sp>
        <p:nvSpPr>
          <p:cNvPr id="7" name="Text 4"/>
          <p:cNvSpPr txBox="1"/>
          <p:nvPr/>
        </p:nvSpPr>
        <p:spPr>
          <a:xfrm>
            <a:off x="457200" y="1664208"/>
            <a:ext cx="3657600" cy="365760"/>
          </a:xfrm>
          <a:prstGeom prst="rect">
            <a:avLst/>
          </a:prstGeom>
          <a:noFill/>
          <a:ln/>
        </p:spPr>
        <p:txBody>
          <a:bodyPr wrap="square" lIns="0" tIns="0" rIns="0" bIns="0" rtlCol="0" anchor="t"/>
          <a:lstStyle/>
          <a:p>
            <a:pPr marL="0" indent="0">
              <a:buNone/>
            </a:pPr>
            <a:r>
              <a:rPr lang="en-US" sz="1600" dirty="0">
                <a:solidFill>
                  <a:srgbClr val="C9D8DE"/>
                </a:solidFill>
                <a:latin typeface="Calibri" pitchFamily="34" charset="0"/>
                <a:ea typeface="Calibri" pitchFamily="34" charset="-122"/>
                <a:cs typeface="Calibri" pitchFamily="34" charset="-120"/>
              </a:rPr>
              <a:t>Anonymous Safety Support Portal</a:t>
            </a:r>
            <a:endParaRPr lang="en-US" sz="1600" dirty="0"/>
          </a:p>
        </p:txBody>
      </p:sp>
      <p:sp>
        <p:nvSpPr>
          <p:cNvPr id="8" name="Shape 5"/>
          <p:cNvSpPr/>
          <p:nvPr/>
        </p:nvSpPr>
        <p:spPr>
          <a:xfrm>
            <a:off x="457200" y="2194560"/>
            <a:ext cx="2916936" cy="347472"/>
          </a:xfrm>
          <a:prstGeom prst="roundRect">
            <a:avLst>
              <a:gd name="adj" fmla="val 50000"/>
            </a:avLst>
          </a:prstGeom>
          <a:solidFill>
            <a:srgbClr val="C0392B"/>
          </a:solidFill>
          <a:ln/>
        </p:spPr>
      </p:sp>
      <p:sp>
        <p:nvSpPr>
          <p:cNvPr id="9" name="Text 6"/>
          <p:cNvSpPr txBox="1"/>
          <p:nvPr/>
        </p:nvSpPr>
        <p:spPr>
          <a:xfrm>
            <a:off x="457200" y="2194560"/>
            <a:ext cx="2916936"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Track D  ·  Tech for Safe Campuses</a:t>
            </a:r>
            <a:endParaRPr lang="en-US" sz="1200" dirty="0"/>
          </a:p>
        </p:txBody>
      </p:sp>
      <p:sp>
        <p:nvSpPr>
          <p:cNvPr id="10" name="Text 7"/>
          <p:cNvSpPr txBox="1"/>
          <p:nvPr/>
        </p:nvSpPr>
        <p:spPr>
          <a:xfrm>
            <a:off x="457200" y="2788920"/>
            <a:ext cx="3657600" cy="274320"/>
          </a:xfrm>
          <a:prstGeom prst="rect">
            <a:avLst/>
          </a:prstGeom>
          <a:noFill/>
          <a:ln/>
        </p:spPr>
        <p:txBody>
          <a:bodyPr wrap="square" lIns="0" tIns="0" rIns="0" bIns="0" rtlCol="0" anchor="ctr"/>
          <a:lstStyle/>
          <a:p>
            <a:pPr marL="0" indent="0">
              <a:buNone/>
            </a:pPr>
            <a:r>
              <a:rPr lang="en-US" sz="1200" b="1" kern="0" spc="300" dirty="0">
                <a:solidFill>
                  <a:srgbClr val="7FD6C8"/>
                </a:solidFill>
                <a:latin typeface="Calibri" pitchFamily="34" charset="0"/>
                <a:ea typeface="Calibri" pitchFamily="34" charset="-122"/>
                <a:cs typeface="Calibri" pitchFamily="34" charset="-120"/>
              </a:rPr>
              <a:t>THE CHALLENGE</a:t>
            </a:r>
            <a:endParaRPr lang="en-US" sz="1200" dirty="0"/>
          </a:p>
        </p:txBody>
      </p:sp>
      <p:sp>
        <p:nvSpPr>
          <p:cNvPr id="11" name="Text 8"/>
          <p:cNvSpPr txBox="1"/>
          <p:nvPr/>
        </p:nvSpPr>
        <p:spPr>
          <a:xfrm>
            <a:off x="457200" y="3108960"/>
            <a:ext cx="3657600" cy="3383280"/>
          </a:xfrm>
          <a:prstGeom prst="rect">
            <a:avLst/>
          </a:prstGeom>
          <a:noFill/>
          <a:ln/>
        </p:spPr>
        <p:txBody>
          <a:bodyPr wrap="square" lIns="0" tIns="0" rIns="0" bIns="0" rtlCol="0" anchor="t"/>
          <a:lstStyle/>
          <a:p>
            <a:pPr marL="0" indent="0">
              <a:buNone/>
            </a:pPr>
            <a:r>
              <a:rPr lang="en-US" sz="1300" dirty="0">
                <a:solidFill>
                  <a:srgbClr val="E6EEF1"/>
                </a:solidFill>
                <a:latin typeface="Calibri" pitchFamily="34" charset="0"/>
                <a:ea typeface="Calibri" pitchFamily="34" charset="-122"/>
                <a:cs typeface="Calibri" pitchFamily="34" charset="-120"/>
              </a:rPr>
              <a:t>Students may hesitate to report ragging, harassment, unsafe situations, peer pressure, or other campus safety concerns because they fear exposure, retaliation, or not being taken seriously. Develop a confidential reporting and support portal that allows students to submit safety concerns without publicly revealing their identity. The platform should provide a safe way to submit a concern, receive a reference number, and view the progress of a report. The MVP may use fictional reports and mock administrative data.</a:t>
            </a:r>
            <a:endParaRPr lang="en-US" sz="1300" dirty="0"/>
          </a:p>
        </p:txBody>
      </p:sp>
      <p:sp>
        <p:nvSpPr>
          <p:cNvPr id="12" name="Text 9"/>
          <p:cNvSpPr txBox="1"/>
          <p:nvPr/>
        </p:nvSpPr>
        <p:spPr>
          <a:xfrm>
            <a:off x="5120640" y="457200"/>
            <a:ext cx="6400800" cy="548640"/>
          </a:xfrm>
          <a:prstGeom prst="rect">
            <a:avLst/>
          </a:prstGeom>
          <a:noFill/>
          <a:ln/>
        </p:spPr>
        <p:txBody>
          <a:bodyPr wrap="square" lIns="0" tIns="0" rIns="0" bIns="0" rtlCol="0" anchor="ctr"/>
          <a:lstStyle/>
          <a:p>
            <a:pPr marL="0" indent="0">
              <a:buNone/>
            </a:pPr>
            <a:r>
              <a:rPr lang="en-US" sz="2600" b="1" dirty="0">
                <a:solidFill>
                  <a:srgbClr val="0E2A35"/>
                </a:solidFill>
                <a:latin typeface="Cambria" pitchFamily="34" charset="0"/>
                <a:ea typeface="Cambria" pitchFamily="34" charset="-122"/>
                <a:cs typeface="Cambria" pitchFamily="34" charset="-120"/>
              </a:rPr>
              <a:t>10 Required Deliverables</a:t>
            </a:r>
            <a:endParaRPr lang="en-US" sz="2600" dirty="0"/>
          </a:p>
        </p:txBody>
      </p:sp>
      <p:sp>
        <p:nvSpPr>
          <p:cNvPr id="13" name="Shape 10"/>
          <p:cNvSpPr/>
          <p:nvPr/>
        </p:nvSpPr>
        <p:spPr>
          <a:xfrm>
            <a:off x="5120640" y="1280160"/>
            <a:ext cx="3154680" cy="786384"/>
          </a:xfrm>
          <a:prstGeom prst="roundRect">
            <a:avLst>
              <a:gd name="adj" fmla="val 11628"/>
            </a:avLst>
          </a:prstGeom>
          <a:solidFill>
            <a:srgbClr val="F8E3E0"/>
          </a:solidFill>
          <a:ln/>
        </p:spPr>
      </p:sp>
      <p:sp>
        <p:nvSpPr>
          <p:cNvPr id="14" name="Shape 11"/>
          <p:cNvSpPr/>
          <p:nvPr/>
        </p:nvSpPr>
        <p:spPr>
          <a:xfrm>
            <a:off x="5257800" y="1444752"/>
            <a:ext cx="457200" cy="457200"/>
          </a:xfrm>
          <a:prstGeom prst="ellipse">
            <a:avLst/>
          </a:prstGeom>
          <a:solidFill>
            <a:srgbClr val="C0392B"/>
          </a:solidFill>
          <a:ln/>
        </p:spPr>
      </p:sp>
      <p:sp>
        <p:nvSpPr>
          <p:cNvPr id="15" name="Text 12"/>
          <p:cNvSpPr txBox="1"/>
          <p:nvPr/>
        </p:nvSpPr>
        <p:spPr>
          <a:xfrm>
            <a:off x="5257800" y="1444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6" name="Text 13"/>
          <p:cNvSpPr txBox="1"/>
          <p:nvPr/>
        </p:nvSpPr>
        <p:spPr>
          <a:xfrm>
            <a:off x="5833872" y="13075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Anonymous safety concern submission form</a:t>
            </a:r>
            <a:endParaRPr lang="en-US" sz="1400" dirty="0"/>
          </a:p>
        </p:txBody>
      </p:sp>
      <p:sp>
        <p:nvSpPr>
          <p:cNvPr id="17" name="Shape 14"/>
          <p:cNvSpPr/>
          <p:nvPr/>
        </p:nvSpPr>
        <p:spPr>
          <a:xfrm>
            <a:off x="5120640" y="2194560"/>
            <a:ext cx="3154680" cy="786384"/>
          </a:xfrm>
          <a:prstGeom prst="roundRect">
            <a:avLst>
              <a:gd name="adj" fmla="val 11628"/>
            </a:avLst>
          </a:prstGeom>
          <a:solidFill>
            <a:srgbClr val="F8E3E0"/>
          </a:solidFill>
          <a:ln/>
        </p:spPr>
      </p:sp>
      <p:sp>
        <p:nvSpPr>
          <p:cNvPr id="18" name="Shape 15"/>
          <p:cNvSpPr/>
          <p:nvPr/>
        </p:nvSpPr>
        <p:spPr>
          <a:xfrm>
            <a:off x="5257800" y="2359152"/>
            <a:ext cx="457200" cy="457200"/>
          </a:xfrm>
          <a:prstGeom prst="ellipse">
            <a:avLst/>
          </a:prstGeom>
          <a:solidFill>
            <a:srgbClr val="C0392B"/>
          </a:solidFill>
          <a:ln/>
        </p:spPr>
      </p:sp>
      <p:sp>
        <p:nvSpPr>
          <p:cNvPr id="19" name="Text 16"/>
          <p:cNvSpPr txBox="1"/>
          <p:nvPr/>
        </p:nvSpPr>
        <p:spPr>
          <a:xfrm>
            <a:off x="5257800" y="23591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0" name="Text 17"/>
          <p:cNvSpPr txBox="1"/>
          <p:nvPr/>
        </p:nvSpPr>
        <p:spPr>
          <a:xfrm>
            <a:off x="5833872" y="22219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Incident category selection, such as harassment, ragging, threat, or unsafe location</a:t>
            </a:r>
            <a:endParaRPr lang="en-US" sz="1400" dirty="0"/>
          </a:p>
        </p:txBody>
      </p:sp>
      <p:sp>
        <p:nvSpPr>
          <p:cNvPr id="21" name="Shape 18"/>
          <p:cNvSpPr/>
          <p:nvPr/>
        </p:nvSpPr>
        <p:spPr>
          <a:xfrm>
            <a:off x="5120640" y="3108960"/>
            <a:ext cx="3154680" cy="786384"/>
          </a:xfrm>
          <a:prstGeom prst="roundRect">
            <a:avLst>
              <a:gd name="adj" fmla="val 11628"/>
            </a:avLst>
          </a:prstGeom>
          <a:solidFill>
            <a:srgbClr val="F8E3E0"/>
          </a:solidFill>
          <a:ln/>
        </p:spPr>
      </p:sp>
      <p:sp>
        <p:nvSpPr>
          <p:cNvPr id="22" name="Shape 19"/>
          <p:cNvSpPr/>
          <p:nvPr/>
        </p:nvSpPr>
        <p:spPr>
          <a:xfrm>
            <a:off x="5257800" y="3273552"/>
            <a:ext cx="457200" cy="457200"/>
          </a:xfrm>
          <a:prstGeom prst="ellipse">
            <a:avLst/>
          </a:prstGeom>
          <a:solidFill>
            <a:srgbClr val="C0392B"/>
          </a:solidFill>
          <a:ln/>
        </p:spPr>
      </p:sp>
      <p:sp>
        <p:nvSpPr>
          <p:cNvPr id="23" name="Text 20"/>
          <p:cNvSpPr txBox="1"/>
          <p:nvPr/>
        </p:nvSpPr>
        <p:spPr>
          <a:xfrm>
            <a:off x="5257800" y="3273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4" name="Text 21"/>
          <p:cNvSpPr txBox="1"/>
          <p:nvPr/>
        </p:nvSpPr>
        <p:spPr>
          <a:xfrm>
            <a:off x="5833872" y="31363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Optional location, date, and time fields</a:t>
            </a:r>
            <a:endParaRPr lang="en-US" sz="1400" dirty="0"/>
          </a:p>
        </p:txBody>
      </p:sp>
      <p:sp>
        <p:nvSpPr>
          <p:cNvPr id="25" name="Shape 22"/>
          <p:cNvSpPr/>
          <p:nvPr/>
        </p:nvSpPr>
        <p:spPr>
          <a:xfrm>
            <a:off x="5120640" y="4023360"/>
            <a:ext cx="3154680" cy="786384"/>
          </a:xfrm>
          <a:prstGeom prst="roundRect">
            <a:avLst>
              <a:gd name="adj" fmla="val 11628"/>
            </a:avLst>
          </a:prstGeom>
          <a:solidFill>
            <a:srgbClr val="F8E3E0"/>
          </a:solidFill>
          <a:ln/>
        </p:spPr>
      </p:sp>
      <p:sp>
        <p:nvSpPr>
          <p:cNvPr id="26" name="Shape 23"/>
          <p:cNvSpPr/>
          <p:nvPr/>
        </p:nvSpPr>
        <p:spPr>
          <a:xfrm>
            <a:off x="5257800" y="4187952"/>
            <a:ext cx="457200" cy="457200"/>
          </a:xfrm>
          <a:prstGeom prst="ellipse">
            <a:avLst/>
          </a:prstGeom>
          <a:solidFill>
            <a:srgbClr val="C0392B"/>
          </a:solidFill>
          <a:ln/>
        </p:spPr>
      </p:sp>
      <p:sp>
        <p:nvSpPr>
          <p:cNvPr id="27" name="Text 24"/>
          <p:cNvSpPr txBox="1"/>
          <p:nvPr/>
        </p:nvSpPr>
        <p:spPr>
          <a:xfrm>
            <a:off x="5257800" y="41879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8" name="Text 25"/>
          <p:cNvSpPr txBox="1"/>
          <p:nvPr/>
        </p:nvSpPr>
        <p:spPr>
          <a:xfrm>
            <a:off x="5833872" y="40507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Automatic non-identifying report reference ID</a:t>
            </a:r>
            <a:endParaRPr lang="en-US" sz="1400" dirty="0"/>
          </a:p>
        </p:txBody>
      </p:sp>
      <p:sp>
        <p:nvSpPr>
          <p:cNvPr id="29" name="Shape 26"/>
          <p:cNvSpPr/>
          <p:nvPr/>
        </p:nvSpPr>
        <p:spPr>
          <a:xfrm>
            <a:off x="5120640" y="4937760"/>
            <a:ext cx="3154680" cy="786384"/>
          </a:xfrm>
          <a:prstGeom prst="roundRect">
            <a:avLst>
              <a:gd name="adj" fmla="val 11628"/>
            </a:avLst>
          </a:prstGeom>
          <a:solidFill>
            <a:srgbClr val="F8E3E0"/>
          </a:solidFill>
          <a:ln/>
        </p:spPr>
      </p:sp>
      <p:sp>
        <p:nvSpPr>
          <p:cNvPr id="30" name="Shape 27"/>
          <p:cNvSpPr/>
          <p:nvPr/>
        </p:nvSpPr>
        <p:spPr>
          <a:xfrm>
            <a:off x="5257800" y="5102352"/>
            <a:ext cx="457200" cy="457200"/>
          </a:xfrm>
          <a:prstGeom prst="ellipse">
            <a:avLst/>
          </a:prstGeom>
          <a:solidFill>
            <a:srgbClr val="C0392B"/>
          </a:solidFill>
          <a:ln/>
        </p:spPr>
      </p:sp>
      <p:sp>
        <p:nvSpPr>
          <p:cNvPr id="31" name="Text 28"/>
          <p:cNvSpPr txBox="1"/>
          <p:nvPr/>
        </p:nvSpPr>
        <p:spPr>
          <a:xfrm>
            <a:off x="5257800" y="5102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2" name="Text 29"/>
          <p:cNvSpPr txBox="1"/>
          <p:nvPr/>
        </p:nvSpPr>
        <p:spPr>
          <a:xfrm>
            <a:off x="5833872" y="49651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Secure status-tracking page using the reference ID</a:t>
            </a:r>
            <a:endParaRPr lang="en-US" sz="1400" dirty="0"/>
          </a:p>
        </p:txBody>
      </p:sp>
      <p:sp>
        <p:nvSpPr>
          <p:cNvPr id="33" name="Shape 30"/>
          <p:cNvSpPr/>
          <p:nvPr/>
        </p:nvSpPr>
        <p:spPr>
          <a:xfrm>
            <a:off x="8577072" y="1280160"/>
            <a:ext cx="3154680" cy="786384"/>
          </a:xfrm>
          <a:prstGeom prst="roundRect">
            <a:avLst>
              <a:gd name="adj" fmla="val 11628"/>
            </a:avLst>
          </a:prstGeom>
          <a:solidFill>
            <a:srgbClr val="F8E3E0"/>
          </a:solidFill>
          <a:ln/>
        </p:spPr>
      </p:sp>
      <p:sp>
        <p:nvSpPr>
          <p:cNvPr id="34" name="Shape 31"/>
          <p:cNvSpPr/>
          <p:nvPr/>
        </p:nvSpPr>
        <p:spPr>
          <a:xfrm>
            <a:off x="8714232" y="1444752"/>
            <a:ext cx="457200" cy="457200"/>
          </a:xfrm>
          <a:prstGeom prst="ellipse">
            <a:avLst/>
          </a:prstGeom>
          <a:solidFill>
            <a:srgbClr val="C0392B"/>
          </a:solidFill>
          <a:ln/>
        </p:spPr>
      </p:sp>
      <p:sp>
        <p:nvSpPr>
          <p:cNvPr id="35" name="Text 32"/>
          <p:cNvSpPr txBox="1"/>
          <p:nvPr/>
        </p:nvSpPr>
        <p:spPr>
          <a:xfrm>
            <a:off x="8714232" y="1444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6" name="Text 33"/>
          <p:cNvSpPr txBox="1"/>
          <p:nvPr/>
        </p:nvSpPr>
        <p:spPr>
          <a:xfrm>
            <a:off x="9290304" y="13075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Emergency support and contact panel</a:t>
            </a:r>
            <a:endParaRPr lang="en-US" sz="1400" dirty="0"/>
          </a:p>
        </p:txBody>
      </p:sp>
      <p:sp>
        <p:nvSpPr>
          <p:cNvPr id="37" name="Shape 34"/>
          <p:cNvSpPr/>
          <p:nvPr/>
        </p:nvSpPr>
        <p:spPr>
          <a:xfrm>
            <a:off x="8577072" y="2194560"/>
            <a:ext cx="3154680" cy="786384"/>
          </a:xfrm>
          <a:prstGeom prst="roundRect">
            <a:avLst>
              <a:gd name="adj" fmla="val 11628"/>
            </a:avLst>
          </a:prstGeom>
          <a:solidFill>
            <a:srgbClr val="F8E3E0"/>
          </a:solidFill>
          <a:ln/>
        </p:spPr>
      </p:sp>
      <p:sp>
        <p:nvSpPr>
          <p:cNvPr id="38" name="Shape 35"/>
          <p:cNvSpPr/>
          <p:nvPr/>
        </p:nvSpPr>
        <p:spPr>
          <a:xfrm>
            <a:off x="8714232" y="2359152"/>
            <a:ext cx="457200" cy="457200"/>
          </a:xfrm>
          <a:prstGeom prst="ellipse">
            <a:avLst/>
          </a:prstGeom>
          <a:solidFill>
            <a:srgbClr val="C0392B"/>
          </a:solidFill>
          <a:ln/>
        </p:spPr>
      </p:sp>
      <p:sp>
        <p:nvSpPr>
          <p:cNvPr id="39" name="Text 36"/>
          <p:cNvSpPr txBox="1"/>
          <p:nvPr/>
        </p:nvSpPr>
        <p:spPr>
          <a:xfrm>
            <a:off x="8714232" y="23591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0" name="Text 37"/>
          <p:cNvSpPr txBox="1"/>
          <p:nvPr/>
        </p:nvSpPr>
        <p:spPr>
          <a:xfrm>
            <a:off x="9290304" y="22219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Admin dashboard displaying mock reports</a:t>
            </a:r>
            <a:endParaRPr lang="en-US" sz="1400" dirty="0"/>
          </a:p>
        </p:txBody>
      </p:sp>
      <p:sp>
        <p:nvSpPr>
          <p:cNvPr id="41" name="Shape 38"/>
          <p:cNvSpPr/>
          <p:nvPr/>
        </p:nvSpPr>
        <p:spPr>
          <a:xfrm>
            <a:off x="8577072" y="3108960"/>
            <a:ext cx="3154680" cy="786384"/>
          </a:xfrm>
          <a:prstGeom prst="roundRect">
            <a:avLst>
              <a:gd name="adj" fmla="val 11628"/>
            </a:avLst>
          </a:prstGeom>
          <a:solidFill>
            <a:srgbClr val="F8E3E0"/>
          </a:solidFill>
          <a:ln/>
        </p:spPr>
      </p:sp>
      <p:sp>
        <p:nvSpPr>
          <p:cNvPr id="42" name="Shape 39"/>
          <p:cNvSpPr/>
          <p:nvPr/>
        </p:nvSpPr>
        <p:spPr>
          <a:xfrm>
            <a:off x="8714232" y="3273552"/>
            <a:ext cx="457200" cy="457200"/>
          </a:xfrm>
          <a:prstGeom prst="ellipse">
            <a:avLst/>
          </a:prstGeom>
          <a:solidFill>
            <a:srgbClr val="C0392B"/>
          </a:solidFill>
          <a:ln/>
        </p:spPr>
      </p:sp>
      <p:sp>
        <p:nvSpPr>
          <p:cNvPr id="43" name="Text 40"/>
          <p:cNvSpPr txBox="1"/>
          <p:nvPr/>
        </p:nvSpPr>
        <p:spPr>
          <a:xfrm>
            <a:off x="8714232" y="3273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4" name="Text 41"/>
          <p:cNvSpPr txBox="1"/>
          <p:nvPr/>
        </p:nvSpPr>
        <p:spPr>
          <a:xfrm>
            <a:off x="9290304" y="31363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Priority, category, and status labels</a:t>
            </a:r>
            <a:endParaRPr lang="en-US" sz="1400" dirty="0"/>
          </a:p>
        </p:txBody>
      </p:sp>
      <p:sp>
        <p:nvSpPr>
          <p:cNvPr id="45" name="Shape 42"/>
          <p:cNvSpPr/>
          <p:nvPr/>
        </p:nvSpPr>
        <p:spPr>
          <a:xfrm>
            <a:off x="8577072" y="4023360"/>
            <a:ext cx="3154680" cy="786384"/>
          </a:xfrm>
          <a:prstGeom prst="roundRect">
            <a:avLst>
              <a:gd name="adj" fmla="val 11628"/>
            </a:avLst>
          </a:prstGeom>
          <a:solidFill>
            <a:srgbClr val="F8E3E0"/>
          </a:solidFill>
          <a:ln/>
        </p:spPr>
      </p:sp>
      <p:sp>
        <p:nvSpPr>
          <p:cNvPr id="46" name="Shape 43"/>
          <p:cNvSpPr/>
          <p:nvPr/>
        </p:nvSpPr>
        <p:spPr>
          <a:xfrm>
            <a:off x="8714232" y="4187952"/>
            <a:ext cx="457200" cy="457200"/>
          </a:xfrm>
          <a:prstGeom prst="ellipse">
            <a:avLst/>
          </a:prstGeom>
          <a:solidFill>
            <a:srgbClr val="C0392B"/>
          </a:solidFill>
          <a:ln/>
        </p:spPr>
      </p:sp>
      <p:sp>
        <p:nvSpPr>
          <p:cNvPr id="47" name="Text 44"/>
          <p:cNvSpPr txBox="1"/>
          <p:nvPr/>
        </p:nvSpPr>
        <p:spPr>
          <a:xfrm>
            <a:off x="8714232" y="41879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8" name="Text 45"/>
          <p:cNvSpPr txBox="1"/>
          <p:nvPr/>
        </p:nvSpPr>
        <p:spPr>
          <a:xfrm>
            <a:off x="9290304" y="40507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Follow-up communication without exposing the reporter’s identity</a:t>
            </a:r>
            <a:endParaRPr lang="en-US" sz="1400" dirty="0"/>
          </a:p>
        </p:txBody>
      </p:sp>
      <p:sp>
        <p:nvSpPr>
          <p:cNvPr id="49" name="Shape 46"/>
          <p:cNvSpPr/>
          <p:nvPr/>
        </p:nvSpPr>
        <p:spPr>
          <a:xfrm>
            <a:off x="8577072" y="4937760"/>
            <a:ext cx="3154680" cy="786384"/>
          </a:xfrm>
          <a:prstGeom prst="roundRect">
            <a:avLst>
              <a:gd name="adj" fmla="val 11628"/>
            </a:avLst>
          </a:prstGeom>
          <a:solidFill>
            <a:srgbClr val="F8E3E0"/>
          </a:solidFill>
          <a:ln/>
        </p:spPr>
      </p:sp>
      <p:sp>
        <p:nvSpPr>
          <p:cNvPr id="50" name="Shape 47"/>
          <p:cNvSpPr/>
          <p:nvPr/>
        </p:nvSpPr>
        <p:spPr>
          <a:xfrm>
            <a:off x="8714232" y="5102352"/>
            <a:ext cx="457200" cy="457200"/>
          </a:xfrm>
          <a:prstGeom prst="ellipse">
            <a:avLst/>
          </a:prstGeom>
          <a:solidFill>
            <a:srgbClr val="C0392B"/>
          </a:solidFill>
          <a:ln/>
        </p:spPr>
      </p:sp>
      <p:sp>
        <p:nvSpPr>
          <p:cNvPr id="51" name="Text 48"/>
          <p:cNvSpPr txBox="1"/>
          <p:nvPr/>
        </p:nvSpPr>
        <p:spPr>
          <a:xfrm>
            <a:off x="8714232" y="5102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52" name="Text 49"/>
          <p:cNvSpPr txBox="1"/>
          <p:nvPr/>
        </p:nvSpPr>
        <p:spPr>
          <a:xfrm>
            <a:off x="9290304" y="49651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Closure note, feedback option, and report-resolution history</a:t>
            </a:r>
            <a:endParaRPr lang="en-US" sz="1400" dirty="0"/>
          </a:p>
        </p:txBody>
      </p:sp>
      <p:sp>
        <p:nvSpPr>
          <p:cNvPr id="53" name="Text 50"/>
          <p:cNvSpPr txBox="1"/>
          <p:nvPr/>
        </p:nvSpPr>
        <p:spPr>
          <a:xfrm>
            <a:off x="5120640" y="6355080"/>
            <a:ext cx="658368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BYTEQUEST|  Clear Mind. Clean Code.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9"/>
        </a:solidFill>
        <a:effectLst/>
      </p:bgPr>
    </p:bg>
    <p:spTree>
      <p:nvGrpSpPr>
        <p:cNvPr id="1" name=""/>
        <p:cNvGrpSpPr/>
        <p:nvPr/>
      </p:nvGrpSpPr>
      <p:grpSpPr>
        <a:xfrm>
          <a:off x="0" y="0"/>
          <a:ext cx="0" cy="0"/>
          <a:chOff x="0" y="0"/>
          <a:chExt cx="0" cy="0"/>
        </a:xfrm>
      </p:grpSpPr>
      <p:sp>
        <p:nvSpPr>
          <p:cNvPr id="2" name="Shape 0"/>
          <p:cNvSpPr/>
          <p:nvPr/>
        </p:nvSpPr>
        <p:spPr>
          <a:xfrm>
            <a:off x="0" y="0"/>
            <a:ext cx="4572000" cy="6858000"/>
          </a:xfrm>
          <a:prstGeom prst="rect">
            <a:avLst/>
          </a:prstGeom>
          <a:solidFill>
            <a:srgbClr val="0E2A35"/>
          </a:solidFill>
          <a:ln/>
        </p:spPr>
      </p:sp>
      <p:sp>
        <p:nvSpPr>
          <p:cNvPr id="3" name="Shape 1"/>
          <p:cNvSpPr/>
          <p:nvPr/>
        </p:nvSpPr>
        <p:spPr>
          <a:xfrm>
            <a:off x="457200" y="457200"/>
            <a:ext cx="502920" cy="502920"/>
          </a:xfrm>
          <a:prstGeom prst="ellipse">
            <a:avLst/>
          </a:prstGeom>
          <a:solidFill>
            <a:srgbClr val="6A5ACD"/>
          </a:solidFill>
          <a:ln/>
        </p:spPr>
      </p:sp>
      <p:pic>
        <p:nvPicPr>
          <p:cNvPr id="4" name="Image 0" descr="preencoded.png"/>
          <p:cNvPicPr>
            <a:picLocks noChangeAspect="1"/>
          </p:cNvPicPr>
          <p:nvPr/>
        </p:nvPicPr>
        <p:blipFill>
          <a:blip r:embed="rId3"/>
          <a:stretch>
            <a:fillRect/>
          </a:stretch>
        </p:blipFill>
        <p:spPr>
          <a:xfrm>
            <a:off x="576072" y="576072"/>
            <a:ext cx="265176" cy="265176"/>
          </a:xfrm>
          <a:prstGeom prst="rect">
            <a:avLst/>
          </a:prstGeom>
        </p:spPr>
      </p:pic>
      <p:sp>
        <p:nvSpPr>
          <p:cNvPr id="5" name="Text 2"/>
          <p:cNvSpPr txBox="1"/>
          <p:nvPr/>
        </p:nvSpPr>
        <p:spPr>
          <a:xfrm>
            <a:off x="1143000" y="457200"/>
            <a:ext cx="3017520" cy="502920"/>
          </a:xfrm>
          <a:prstGeom prst="rect">
            <a:avLst/>
          </a:prstGeom>
          <a:noFill/>
          <a:ln/>
        </p:spPr>
        <p:txBody>
          <a:bodyPr wrap="square" lIns="0" tIns="0" rIns="0" bIns="0" rtlCol="0" anchor="ctr"/>
          <a:lstStyle/>
          <a:p>
            <a:pPr marL="0" indent="0">
              <a:buNone/>
            </a:pPr>
            <a:r>
              <a:rPr lang="en-US" sz="1400" b="1" kern="0" spc="300" dirty="0">
                <a:solidFill>
                  <a:srgbClr val="7FD6C8"/>
                </a:solidFill>
                <a:latin typeface="Calibri" pitchFamily="34" charset="0"/>
                <a:ea typeface="Calibri" pitchFamily="34" charset="-122"/>
                <a:cs typeface="Calibri" pitchFamily="34" charset="-120"/>
              </a:rPr>
              <a:t>PROBLEM 03</a:t>
            </a:r>
            <a:endParaRPr lang="en-US" sz="1400" dirty="0"/>
          </a:p>
        </p:txBody>
      </p:sp>
      <p:sp>
        <p:nvSpPr>
          <p:cNvPr id="6" name="Text 3"/>
          <p:cNvSpPr txBox="1"/>
          <p:nvPr/>
        </p:nvSpPr>
        <p:spPr>
          <a:xfrm>
            <a:off x="457200" y="1188720"/>
            <a:ext cx="3657600" cy="914400"/>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Student Wellness Journal</a:t>
            </a:r>
            <a:endParaRPr lang="en-US" sz="2600" dirty="0"/>
          </a:p>
        </p:txBody>
      </p:sp>
      <p:sp>
        <p:nvSpPr>
          <p:cNvPr id="7" name="Shape 4"/>
          <p:cNvSpPr/>
          <p:nvPr/>
        </p:nvSpPr>
        <p:spPr>
          <a:xfrm>
            <a:off x="457200" y="2240280"/>
            <a:ext cx="3090672" cy="347472"/>
          </a:xfrm>
          <a:prstGeom prst="roundRect">
            <a:avLst>
              <a:gd name="adj" fmla="val 50000"/>
            </a:avLst>
          </a:prstGeom>
          <a:solidFill>
            <a:srgbClr val="6A5ACD"/>
          </a:solidFill>
          <a:ln/>
        </p:spPr>
      </p:sp>
      <p:sp>
        <p:nvSpPr>
          <p:cNvPr id="8" name="Text 5"/>
          <p:cNvSpPr txBox="1"/>
          <p:nvPr/>
        </p:nvSpPr>
        <p:spPr>
          <a:xfrm>
            <a:off x="457200" y="2240280"/>
            <a:ext cx="30906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Track B  ·  Tech for Mental Wellness</a:t>
            </a:r>
            <a:endParaRPr lang="en-US" sz="1200" dirty="0"/>
          </a:p>
        </p:txBody>
      </p:sp>
      <p:sp>
        <p:nvSpPr>
          <p:cNvPr id="9" name="Text 6"/>
          <p:cNvSpPr txBox="1"/>
          <p:nvPr/>
        </p:nvSpPr>
        <p:spPr>
          <a:xfrm>
            <a:off x="457200" y="2834640"/>
            <a:ext cx="3657600" cy="274320"/>
          </a:xfrm>
          <a:prstGeom prst="rect">
            <a:avLst/>
          </a:prstGeom>
          <a:noFill/>
          <a:ln/>
        </p:spPr>
        <p:txBody>
          <a:bodyPr wrap="square" lIns="0" tIns="0" rIns="0" bIns="0" rtlCol="0" anchor="ctr"/>
          <a:lstStyle/>
          <a:p>
            <a:pPr marL="0" indent="0">
              <a:buNone/>
            </a:pPr>
            <a:r>
              <a:rPr lang="en-US" sz="1200" b="1" kern="0" spc="300" dirty="0">
                <a:solidFill>
                  <a:srgbClr val="7FD6C8"/>
                </a:solidFill>
                <a:latin typeface="Calibri" pitchFamily="34" charset="0"/>
                <a:ea typeface="Calibri" pitchFamily="34" charset="-122"/>
                <a:cs typeface="Calibri" pitchFamily="34" charset="-120"/>
              </a:rPr>
              <a:t>THE CHALLENGE</a:t>
            </a:r>
            <a:endParaRPr lang="en-US" sz="1200" dirty="0"/>
          </a:p>
        </p:txBody>
      </p:sp>
      <p:sp>
        <p:nvSpPr>
          <p:cNvPr id="10" name="Text 7"/>
          <p:cNvSpPr txBox="1"/>
          <p:nvPr/>
        </p:nvSpPr>
        <p:spPr>
          <a:xfrm>
            <a:off x="457200" y="3154680"/>
            <a:ext cx="3657600" cy="3337560"/>
          </a:xfrm>
          <a:prstGeom prst="rect">
            <a:avLst/>
          </a:prstGeom>
          <a:noFill/>
          <a:ln/>
        </p:spPr>
        <p:txBody>
          <a:bodyPr wrap="square" lIns="0" tIns="0" rIns="0" bIns="0" rtlCol="0" anchor="t"/>
          <a:lstStyle/>
          <a:p>
            <a:pPr marL="0" indent="0">
              <a:buNone/>
            </a:pPr>
            <a:r>
              <a:rPr lang="en-US" sz="1300" dirty="0">
                <a:solidFill>
                  <a:srgbClr val="E6EEF1"/>
                </a:solidFill>
                <a:latin typeface="Calibri" pitchFamily="34" charset="0"/>
                <a:ea typeface="Calibri" pitchFamily="34" charset="-122"/>
                <a:cs typeface="Calibri" pitchFamily="34" charset="-120"/>
              </a:rPr>
              <a:t>Students often experience stress, academic pressure, loneliness, anxiety, and burnout but may not have a simple way to reflect on their daily wellbeing. A private journal can help users recognise patterns in their routines and emotions without presenting itself as a diagnostic tool. Create a privacy-conscious wellness journal where students can record moods, thoughts, activities, and healthy habits. The application should present simple trends and supportive prompts that encourage reflection and help-seeking when necessary.</a:t>
            </a:r>
            <a:endParaRPr lang="en-US" sz="1300" dirty="0"/>
          </a:p>
        </p:txBody>
      </p:sp>
      <p:sp>
        <p:nvSpPr>
          <p:cNvPr id="11" name="Text 8"/>
          <p:cNvSpPr txBox="1"/>
          <p:nvPr/>
        </p:nvSpPr>
        <p:spPr>
          <a:xfrm>
            <a:off x="5120640" y="457200"/>
            <a:ext cx="6400800" cy="548640"/>
          </a:xfrm>
          <a:prstGeom prst="rect">
            <a:avLst/>
          </a:prstGeom>
          <a:noFill/>
          <a:ln/>
        </p:spPr>
        <p:txBody>
          <a:bodyPr wrap="square" lIns="0" tIns="0" rIns="0" bIns="0" rtlCol="0" anchor="ctr"/>
          <a:lstStyle/>
          <a:p>
            <a:pPr marL="0" indent="0">
              <a:buNone/>
            </a:pPr>
            <a:r>
              <a:rPr lang="en-US" sz="2600" b="1" dirty="0">
                <a:solidFill>
                  <a:srgbClr val="0E2A35"/>
                </a:solidFill>
                <a:latin typeface="Cambria" pitchFamily="34" charset="0"/>
                <a:ea typeface="Cambria" pitchFamily="34" charset="-122"/>
                <a:cs typeface="Cambria" pitchFamily="34" charset="-120"/>
              </a:rPr>
              <a:t>10 Required Deliverables</a:t>
            </a:r>
            <a:endParaRPr lang="en-US" sz="2600" dirty="0"/>
          </a:p>
        </p:txBody>
      </p:sp>
      <p:sp>
        <p:nvSpPr>
          <p:cNvPr id="12" name="Shape 9"/>
          <p:cNvSpPr/>
          <p:nvPr/>
        </p:nvSpPr>
        <p:spPr>
          <a:xfrm>
            <a:off x="5120640" y="1280160"/>
            <a:ext cx="3154680" cy="786384"/>
          </a:xfrm>
          <a:prstGeom prst="roundRect">
            <a:avLst>
              <a:gd name="adj" fmla="val 11628"/>
            </a:avLst>
          </a:prstGeom>
          <a:solidFill>
            <a:srgbClr val="EBE9FA"/>
          </a:solidFill>
          <a:ln/>
        </p:spPr>
      </p:sp>
      <p:sp>
        <p:nvSpPr>
          <p:cNvPr id="13" name="Shape 10"/>
          <p:cNvSpPr/>
          <p:nvPr/>
        </p:nvSpPr>
        <p:spPr>
          <a:xfrm>
            <a:off x="5257800" y="1444752"/>
            <a:ext cx="457200" cy="457200"/>
          </a:xfrm>
          <a:prstGeom prst="ellipse">
            <a:avLst/>
          </a:prstGeom>
          <a:solidFill>
            <a:srgbClr val="6A5ACD"/>
          </a:solidFill>
          <a:ln/>
        </p:spPr>
      </p:sp>
      <p:sp>
        <p:nvSpPr>
          <p:cNvPr id="14" name="Text 11"/>
          <p:cNvSpPr txBox="1"/>
          <p:nvPr/>
        </p:nvSpPr>
        <p:spPr>
          <a:xfrm>
            <a:off x="5257800" y="1444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5" name="Text 12"/>
          <p:cNvSpPr txBox="1"/>
          <p:nvPr/>
        </p:nvSpPr>
        <p:spPr>
          <a:xfrm>
            <a:off x="5833872" y="13075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Daily mood check-in using simple, non-diagnostic labels</a:t>
            </a:r>
            <a:endParaRPr lang="en-US" sz="1400" dirty="0"/>
          </a:p>
        </p:txBody>
      </p:sp>
      <p:sp>
        <p:nvSpPr>
          <p:cNvPr id="16" name="Shape 13"/>
          <p:cNvSpPr/>
          <p:nvPr/>
        </p:nvSpPr>
        <p:spPr>
          <a:xfrm>
            <a:off x="5120640" y="2194560"/>
            <a:ext cx="3154680" cy="786384"/>
          </a:xfrm>
          <a:prstGeom prst="roundRect">
            <a:avLst>
              <a:gd name="adj" fmla="val 11628"/>
            </a:avLst>
          </a:prstGeom>
          <a:solidFill>
            <a:srgbClr val="EBE9FA"/>
          </a:solidFill>
          <a:ln/>
        </p:spPr>
      </p:sp>
      <p:sp>
        <p:nvSpPr>
          <p:cNvPr id="17" name="Shape 14"/>
          <p:cNvSpPr/>
          <p:nvPr/>
        </p:nvSpPr>
        <p:spPr>
          <a:xfrm>
            <a:off x="5257800" y="2359152"/>
            <a:ext cx="457200" cy="457200"/>
          </a:xfrm>
          <a:prstGeom prst="ellipse">
            <a:avLst/>
          </a:prstGeom>
          <a:solidFill>
            <a:srgbClr val="6A5ACD"/>
          </a:solidFill>
          <a:ln/>
        </p:spPr>
      </p:sp>
      <p:sp>
        <p:nvSpPr>
          <p:cNvPr id="18" name="Text 15"/>
          <p:cNvSpPr txBox="1"/>
          <p:nvPr/>
        </p:nvSpPr>
        <p:spPr>
          <a:xfrm>
            <a:off x="5257800" y="23591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9" name="Text 16"/>
          <p:cNvSpPr txBox="1"/>
          <p:nvPr/>
        </p:nvSpPr>
        <p:spPr>
          <a:xfrm>
            <a:off x="5833872" y="22219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Private journal entry interface</a:t>
            </a:r>
            <a:endParaRPr lang="en-US" sz="1400" dirty="0"/>
          </a:p>
        </p:txBody>
      </p:sp>
      <p:sp>
        <p:nvSpPr>
          <p:cNvPr id="20" name="Shape 17"/>
          <p:cNvSpPr/>
          <p:nvPr/>
        </p:nvSpPr>
        <p:spPr>
          <a:xfrm>
            <a:off x="5120640" y="3108960"/>
            <a:ext cx="3154680" cy="786384"/>
          </a:xfrm>
          <a:prstGeom prst="roundRect">
            <a:avLst>
              <a:gd name="adj" fmla="val 11628"/>
            </a:avLst>
          </a:prstGeom>
          <a:solidFill>
            <a:srgbClr val="EBE9FA"/>
          </a:solidFill>
          <a:ln/>
        </p:spPr>
      </p:sp>
      <p:sp>
        <p:nvSpPr>
          <p:cNvPr id="21" name="Shape 18"/>
          <p:cNvSpPr/>
          <p:nvPr/>
        </p:nvSpPr>
        <p:spPr>
          <a:xfrm>
            <a:off x="5257800" y="3273552"/>
            <a:ext cx="457200" cy="457200"/>
          </a:xfrm>
          <a:prstGeom prst="ellipse">
            <a:avLst/>
          </a:prstGeom>
          <a:solidFill>
            <a:srgbClr val="6A5ACD"/>
          </a:solidFill>
          <a:ln/>
        </p:spPr>
      </p:sp>
      <p:sp>
        <p:nvSpPr>
          <p:cNvPr id="22" name="Text 19"/>
          <p:cNvSpPr txBox="1"/>
          <p:nvPr/>
        </p:nvSpPr>
        <p:spPr>
          <a:xfrm>
            <a:off x="5257800" y="3273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3" name="Text 20"/>
          <p:cNvSpPr txBox="1"/>
          <p:nvPr/>
        </p:nvSpPr>
        <p:spPr>
          <a:xfrm>
            <a:off x="5833872" y="31363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Mood, activity, sleep, study, and habit tagging</a:t>
            </a:r>
            <a:endParaRPr lang="en-US" sz="1400" dirty="0"/>
          </a:p>
        </p:txBody>
      </p:sp>
      <p:sp>
        <p:nvSpPr>
          <p:cNvPr id="24" name="Shape 21"/>
          <p:cNvSpPr/>
          <p:nvPr/>
        </p:nvSpPr>
        <p:spPr>
          <a:xfrm>
            <a:off x="5120640" y="4023360"/>
            <a:ext cx="3154680" cy="786384"/>
          </a:xfrm>
          <a:prstGeom prst="roundRect">
            <a:avLst>
              <a:gd name="adj" fmla="val 11628"/>
            </a:avLst>
          </a:prstGeom>
          <a:solidFill>
            <a:srgbClr val="EBE9FA"/>
          </a:solidFill>
          <a:ln/>
        </p:spPr>
      </p:sp>
      <p:sp>
        <p:nvSpPr>
          <p:cNvPr id="25" name="Shape 22"/>
          <p:cNvSpPr/>
          <p:nvPr/>
        </p:nvSpPr>
        <p:spPr>
          <a:xfrm>
            <a:off x="5257800" y="4187952"/>
            <a:ext cx="457200" cy="457200"/>
          </a:xfrm>
          <a:prstGeom prst="ellipse">
            <a:avLst/>
          </a:prstGeom>
          <a:solidFill>
            <a:srgbClr val="6A5ACD"/>
          </a:solidFill>
          <a:ln/>
        </p:spPr>
      </p:sp>
      <p:sp>
        <p:nvSpPr>
          <p:cNvPr id="26" name="Text 23"/>
          <p:cNvSpPr txBox="1"/>
          <p:nvPr/>
        </p:nvSpPr>
        <p:spPr>
          <a:xfrm>
            <a:off x="5257800" y="41879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7" name="Text 24"/>
          <p:cNvSpPr txBox="1"/>
          <p:nvPr/>
        </p:nvSpPr>
        <p:spPr>
          <a:xfrm>
            <a:off x="5833872" y="40507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Weekly or monthly mood-trend chart</a:t>
            </a:r>
            <a:endParaRPr lang="en-US" sz="1400" dirty="0"/>
          </a:p>
        </p:txBody>
      </p:sp>
      <p:sp>
        <p:nvSpPr>
          <p:cNvPr id="28" name="Shape 25"/>
          <p:cNvSpPr/>
          <p:nvPr/>
        </p:nvSpPr>
        <p:spPr>
          <a:xfrm>
            <a:off x="5120640" y="4937760"/>
            <a:ext cx="3154680" cy="786384"/>
          </a:xfrm>
          <a:prstGeom prst="roundRect">
            <a:avLst>
              <a:gd name="adj" fmla="val 11628"/>
            </a:avLst>
          </a:prstGeom>
          <a:solidFill>
            <a:srgbClr val="EBE9FA"/>
          </a:solidFill>
          <a:ln/>
        </p:spPr>
      </p:sp>
      <p:sp>
        <p:nvSpPr>
          <p:cNvPr id="29" name="Shape 26"/>
          <p:cNvSpPr/>
          <p:nvPr/>
        </p:nvSpPr>
        <p:spPr>
          <a:xfrm>
            <a:off x="5257800" y="5102352"/>
            <a:ext cx="457200" cy="457200"/>
          </a:xfrm>
          <a:prstGeom prst="ellipse">
            <a:avLst/>
          </a:prstGeom>
          <a:solidFill>
            <a:srgbClr val="6A5ACD"/>
          </a:solidFill>
          <a:ln/>
        </p:spPr>
      </p:sp>
      <p:sp>
        <p:nvSpPr>
          <p:cNvPr id="30" name="Text 27"/>
          <p:cNvSpPr txBox="1"/>
          <p:nvPr/>
        </p:nvSpPr>
        <p:spPr>
          <a:xfrm>
            <a:off x="5257800" y="5102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8"/>
          <p:cNvSpPr txBox="1"/>
          <p:nvPr/>
        </p:nvSpPr>
        <p:spPr>
          <a:xfrm>
            <a:off x="5833872" y="49651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Personal reflection prompts</a:t>
            </a:r>
            <a:endParaRPr lang="en-US" sz="1400" dirty="0"/>
          </a:p>
        </p:txBody>
      </p:sp>
      <p:sp>
        <p:nvSpPr>
          <p:cNvPr id="32" name="Shape 29"/>
          <p:cNvSpPr/>
          <p:nvPr/>
        </p:nvSpPr>
        <p:spPr>
          <a:xfrm>
            <a:off x="8577072" y="1280160"/>
            <a:ext cx="3154680" cy="786384"/>
          </a:xfrm>
          <a:prstGeom prst="roundRect">
            <a:avLst>
              <a:gd name="adj" fmla="val 11628"/>
            </a:avLst>
          </a:prstGeom>
          <a:solidFill>
            <a:srgbClr val="EBE9FA"/>
          </a:solidFill>
          <a:ln/>
        </p:spPr>
      </p:sp>
      <p:sp>
        <p:nvSpPr>
          <p:cNvPr id="33" name="Shape 30"/>
          <p:cNvSpPr/>
          <p:nvPr/>
        </p:nvSpPr>
        <p:spPr>
          <a:xfrm>
            <a:off x="8714232" y="1444752"/>
            <a:ext cx="457200" cy="457200"/>
          </a:xfrm>
          <a:prstGeom prst="ellipse">
            <a:avLst/>
          </a:prstGeom>
          <a:solidFill>
            <a:srgbClr val="6A5ACD"/>
          </a:solidFill>
          <a:ln/>
        </p:spPr>
      </p:sp>
      <p:sp>
        <p:nvSpPr>
          <p:cNvPr id="34" name="Text 31"/>
          <p:cNvSpPr txBox="1"/>
          <p:nvPr/>
        </p:nvSpPr>
        <p:spPr>
          <a:xfrm>
            <a:off x="8714232" y="1444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5" name="Text 32"/>
          <p:cNvSpPr txBox="1"/>
          <p:nvPr/>
        </p:nvSpPr>
        <p:spPr>
          <a:xfrm>
            <a:off x="9290304" y="13075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Wellness habit checklist</a:t>
            </a:r>
            <a:endParaRPr lang="en-US" sz="1400" dirty="0"/>
          </a:p>
        </p:txBody>
      </p:sp>
      <p:sp>
        <p:nvSpPr>
          <p:cNvPr id="36" name="Shape 33"/>
          <p:cNvSpPr/>
          <p:nvPr/>
        </p:nvSpPr>
        <p:spPr>
          <a:xfrm>
            <a:off x="8577072" y="2194560"/>
            <a:ext cx="3154680" cy="786384"/>
          </a:xfrm>
          <a:prstGeom prst="roundRect">
            <a:avLst>
              <a:gd name="adj" fmla="val 11628"/>
            </a:avLst>
          </a:prstGeom>
          <a:solidFill>
            <a:srgbClr val="EBE9FA"/>
          </a:solidFill>
          <a:ln/>
        </p:spPr>
      </p:sp>
      <p:sp>
        <p:nvSpPr>
          <p:cNvPr id="37" name="Shape 34"/>
          <p:cNvSpPr/>
          <p:nvPr/>
        </p:nvSpPr>
        <p:spPr>
          <a:xfrm>
            <a:off x="8714232" y="2359152"/>
            <a:ext cx="457200" cy="457200"/>
          </a:xfrm>
          <a:prstGeom prst="ellipse">
            <a:avLst/>
          </a:prstGeom>
          <a:solidFill>
            <a:srgbClr val="6A5ACD"/>
          </a:solidFill>
          <a:ln/>
        </p:spPr>
      </p:sp>
      <p:sp>
        <p:nvSpPr>
          <p:cNvPr id="38" name="Text 35"/>
          <p:cNvSpPr txBox="1"/>
          <p:nvPr/>
        </p:nvSpPr>
        <p:spPr>
          <a:xfrm>
            <a:off x="8714232" y="23591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9" name="Text 36"/>
          <p:cNvSpPr txBox="1"/>
          <p:nvPr/>
        </p:nvSpPr>
        <p:spPr>
          <a:xfrm>
            <a:off x="9290304" y="22219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Option to export or delete personal entries</a:t>
            </a:r>
            <a:endParaRPr lang="en-US" sz="1400" dirty="0"/>
          </a:p>
        </p:txBody>
      </p:sp>
      <p:sp>
        <p:nvSpPr>
          <p:cNvPr id="40" name="Shape 37"/>
          <p:cNvSpPr/>
          <p:nvPr/>
        </p:nvSpPr>
        <p:spPr>
          <a:xfrm>
            <a:off x="8577072" y="3108960"/>
            <a:ext cx="3154680" cy="786384"/>
          </a:xfrm>
          <a:prstGeom prst="roundRect">
            <a:avLst>
              <a:gd name="adj" fmla="val 11628"/>
            </a:avLst>
          </a:prstGeom>
          <a:solidFill>
            <a:srgbClr val="EBE9FA"/>
          </a:solidFill>
          <a:ln/>
        </p:spPr>
      </p:sp>
      <p:sp>
        <p:nvSpPr>
          <p:cNvPr id="41" name="Shape 38"/>
          <p:cNvSpPr/>
          <p:nvPr/>
        </p:nvSpPr>
        <p:spPr>
          <a:xfrm>
            <a:off x="8714232" y="3273552"/>
            <a:ext cx="457200" cy="457200"/>
          </a:xfrm>
          <a:prstGeom prst="ellipse">
            <a:avLst/>
          </a:prstGeom>
          <a:solidFill>
            <a:srgbClr val="6A5ACD"/>
          </a:solidFill>
          <a:ln/>
        </p:spPr>
      </p:sp>
      <p:sp>
        <p:nvSpPr>
          <p:cNvPr id="42" name="Text 39"/>
          <p:cNvSpPr txBox="1"/>
          <p:nvPr/>
        </p:nvSpPr>
        <p:spPr>
          <a:xfrm>
            <a:off x="8714232" y="3273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3" name="Text 40"/>
          <p:cNvSpPr txBox="1"/>
          <p:nvPr/>
        </p:nvSpPr>
        <p:spPr>
          <a:xfrm>
            <a:off x="9290304" y="31363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Local or privacy-conscious data storage</a:t>
            </a:r>
            <a:endParaRPr lang="en-US" sz="1400" dirty="0"/>
          </a:p>
        </p:txBody>
      </p:sp>
      <p:sp>
        <p:nvSpPr>
          <p:cNvPr id="44" name="Shape 41"/>
          <p:cNvSpPr/>
          <p:nvPr/>
        </p:nvSpPr>
        <p:spPr>
          <a:xfrm>
            <a:off x="8577072" y="4023360"/>
            <a:ext cx="3154680" cy="786384"/>
          </a:xfrm>
          <a:prstGeom prst="roundRect">
            <a:avLst>
              <a:gd name="adj" fmla="val 11628"/>
            </a:avLst>
          </a:prstGeom>
          <a:solidFill>
            <a:srgbClr val="EBE9FA"/>
          </a:solidFill>
          <a:ln/>
        </p:spPr>
      </p:sp>
      <p:sp>
        <p:nvSpPr>
          <p:cNvPr id="45" name="Shape 42"/>
          <p:cNvSpPr/>
          <p:nvPr/>
        </p:nvSpPr>
        <p:spPr>
          <a:xfrm>
            <a:off x="8714232" y="4187952"/>
            <a:ext cx="457200" cy="457200"/>
          </a:xfrm>
          <a:prstGeom prst="ellipse">
            <a:avLst/>
          </a:prstGeom>
          <a:solidFill>
            <a:srgbClr val="6A5ACD"/>
          </a:solidFill>
          <a:ln/>
        </p:spPr>
      </p:sp>
      <p:sp>
        <p:nvSpPr>
          <p:cNvPr id="46" name="Text 43"/>
          <p:cNvSpPr txBox="1"/>
          <p:nvPr/>
        </p:nvSpPr>
        <p:spPr>
          <a:xfrm>
            <a:off x="8714232" y="41879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7" name="Text 44"/>
          <p:cNvSpPr txBox="1"/>
          <p:nvPr/>
        </p:nvSpPr>
        <p:spPr>
          <a:xfrm>
            <a:off x="9290304" y="40507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Non-diagnostic and non-judgmental supportive suggestions</a:t>
            </a:r>
            <a:endParaRPr lang="en-US" sz="1400" dirty="0"/>
          </a:p>
        </p:txBody>
      </p:sp>
      <p:sp>
        <p:nvSpPr>
          <p:cNvPr id="48" name="Shape 45"/>
          <p:cNvSpPr/>
          <p:nvPr/>
        </p:nvSpPr>
        <p:spPr>
          <a:xfrm>
            <a:off x="8577072" y="4937760"/>
            <a:ext cx="3154680" cy="786384"/>
          </a:xfrm>
          <a:prstGeom prst="roundRect">
            <a:avLst>
              <a:gd name="adj" fmla="val 11628"/>
            </a:avLst>
          </a:prstGeom>
          <a:solidFill>
            <a:srgbClr val="EBE9FA"/>
          </a:solidFill>
          <a:ln/>
        </p:spPr>
      </p:sp>
      <p:sp>
        <p:nvSpPr>
          <p:cNvPr id="49" name="Shape 46"/>
          <p:cNvSpPr/>
          <p:nvPr/>
        </p:nvSpPr>
        <p:spPr>
          <a:xfrm>
            <a:off x="8714232" y="5102352"/>
            <a:ext cx="457200" cy="457200"/>
          </a:xfrm>
          <a:prstGeom prst="ellipse">
            <a:avLst/>
          </a:prstGeom>
          <a:solidFill>
            <a:srgbClr val="6A5ACD"/>
          </a:solidFill>
          <a:ln/>
        </p:spPr>
      </p:sp>
      <p:sp>
        <p:nvSpPr>
          <p:cNvPr id="50" name="Text 47"/>
          <p:cNvSpPr txBox="1"/>
          <p:nvPr/>
        </p:nvSpPr>
        <p:spPr>
          <a:xfrm>
            <a:off x="8714232" y="5102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51" name="Text 48"/>
          <p:cNvSpPr txBox="1"/>
          <p:nvPr/>
        </p:nvSpPr>
        <p:spPr>
          <a:xfrm>
            <a:off x="9290304" y="49651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Clear links to campus counselling, emergency contacts, and professional support</a:t>
            </a:r>
            <a:endParaRPr lang="en-US" sz="1400" dirty="0"/>
          </a:p>
        </p:txBody>
      </p:sp>
      <p:sp>
        <p:nvSpPr>
          <p:cNvPr id="52" name="Text 49"/>
          <p:cNvSpPr txBox="1"/>
          <p:nvPr/>
        </p:nvSpPr>
        <p:spPr>
          <a:xfrm>
            <a:off x="5120640" y="6355080"/>
            <a:ext cx="658368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BYTEQUEST|  Clear Mind. Clean Code.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9"/>
        </a:solidFill>
        <a:effectLst/>
      </p:bgPr>
    </p:bg>
    <p:spTree>
      <p:nvGrpSpPr>
        <p:cNvPr id="1" name=""/>
        <p:cNvGrpSpPr/>
        <p:nvPr/>
      </p:nvGrpSpPr>
      <p:grpSpPr>
        <a:xfrm>
          <a:off x="0" y="0"/>
          <a:ext cx="0" cy="0"/>
          <a:chOff x="0" y="0"/>
          <a:chExt cx="0" cy="0"/>
        </a:xfrm>
      </p:grpSpPr>
      <p:sp>
        <p:nvSpPr>
          <p:cNvPr id="2" name="Shape 0"/>
          <p:cNvSpPr/>
          <p:nvPr/>
        </p:nvSpPr>
        <p:spPr>
          <a:xfrm>
            <a:off x="0" y="0"/>
            <a:ext cx="4572000" cy="6858000"/>
          </a:xfrm>
          <a:prstGeom prst="rect">
            <a:avLst/>
          </a:prstGeom>
          <a:solidFill>
            <a:srgbClr val="0E2A35"/>
          </a:solidFill>
          <a:ln/>
        </p:spPr>
      </p:sp>
      <p:sp>
        <p:nvSpPr>
          <p:cNvPr id="3" name="Shape 1"/>
          <p:cNvSpPr/>
          <p:nvPr/>
        </p:nvSpPr>
        <p:spPr>
          <a:xfrm>
            <a:off x="457200" y="457200"/>
            <a:ext cx="502920" cy="502920"/>
          </a:xfrm>
          <a:prstGeom prst="ellipse">
            <a:avLst/>
          </a:prstGeom>
          <a:solidFill>
            <a:srgbClr val="C2620A"/>
          </a:solidFill>
          <a:ln/>
        </p:spPr>
      </p:sp>
      <p:pic>
        <p:nvPicPr>
          <p:cNvPr id="4" name="Image 0" descr="preencoded.png"/>
          <p:cNvPicPr>
            <a:picLocks noChangeAspect="1"/>
          </p:cNvPicPr>
          <p:nvPr/>
        </p:nvPicPr>
        <p:blipFill>
          <a:blip r:embed="rId3"/>
          <a:stretch>
            <a:fillRect/>
          </a:stretch>
        </p:blipFill>
        <p:spPr>
          <a:xfrm>
            <a:off x="576072" y="576072"/>
            <a:ext cx="265176" cy="265176"/>
          </a:xfrm>
          <a:prstGeom prst="rect">
            <a:avLst/>
          </a:prstGeom>
        </p:spPr>
      </p:pic>
      <p:sp>
        <p:nvSpPr>
          <p:cNvPr id="5" name="Text 2"/>
          <p:cNvSpPr txBox="1"/>
          <p:nvPr/>
        </p:nvSpPr>
        <p:spPr>
          <a:xfrm>
            <a:off x="1143000" y="457200"/>
            <a:ext cx="3017520" cy="502920"/>
          </a:xfrm>
          <a:prstGeom prst="rect">
            <a:avLst/>
          </a:prstGeom>
          <a:noFill/>
          <a:ln/>
        </p:spPr>
        <p:txBody>
          <a:bodyPr wrap="square" lIns="0" tIns="0" rIns="0" bIns="0" rtlCol="0" anchor="ctr"/>
          <a:lstStyle/>
          <a:p>
            <a:pPr marL="0" indent="0">
              <a:buNone/>
            </a:pPr>
            <a:r>
              <a:rPr lang="en-US" sz="1400" b="1" kern="0" spc="300" dirty="0">
                <a:solidFill>
                  <a:srgbClr val="7FD6C8"/>
                </a:solidFill>
                <a:latin typeface="Calibri" pitchFamily="34" charset="0"/>
                <a:ea typeface="Calibri" pitchFamily="34" charset="-122"/>
                <a:cs typeface="Calibri" pitchFamily="34" charset="-120"/>
              </a:rPr>
              <a:t>PROBLEM 04</a:t>
            </a:r>
            <a:endParaRPr lang="en-US" sz="1400" dirty="0"/>
          </a:p>
        </p:txBody>
      </p:sp>
      <p:sp>
        <p:nvSpPr>
          <p:cNvPr id="6" name="Text 3"/>
          <p:cNvSpPr txBox="1"/>
          <p:nvPr/>
        </p:nvSpPr>
        <p:spPr>
          <a:xfrm>
            <a:off x="457200" y="1188720"/>
            <a:ext cx="3657600" cy="457200"/>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FocusFlow</a:t>
            </a:r>
            <a:endParaRPr lang="en-US" sz="2600" dirty="0"/>
          </a:p>
        </p:txBody>
      </p:sp>
      <p:sp>
        <p:nvSpPr>
          <p:cNvPr id="7" name="Text 4"/>
          <p:cNvSpPr txBox="1"/>
          <p:nvPr/>
        </p:nvSpPr>
        <p:spPr>
          <a:xfrm>
            <a:off x="457200" y="1664208"/>
            <a:ext cx="3657600" cy="365760"/>
          </a:xfrm>
          <a:prstGeom prst="rect">
            <a:avLst/>
          </a:prstGeom>
          <a:noFill/>
          <a:ln/>
        </p:spPr>
        <p:txBody>
          <a:bodyPr wrap="square" lIns="0" tIns="0" rIns="0" bIns="0" rtlCol="0" anchor="t"/>
          <a:lstStyle/>
          <a:p>
            <a:pPr marL="0" indent="0">
              <a:buNone/>
            </a:pPr>
            <a:r>
              <a:rPr lang="en-US" sz="1600" dirty="0">
                <a:solidFill>
                  <a:srgbClr val="C9D8DE"/>
                </a:solidFill>
                <a:latin typeface="Calibri" pitchFamily="34" charset="0"/>
                <a:ea typeface="Calibri" pitchFamily="34" charset="-122"/>
                <a:cs typeface="Calibri" pitchFamily="34" charset="-120"/>
              </a:rPr>
              <a:t>Healthy Screen Habit Manager</a:t>
            </a:r>
            <a:endParaRPr lang="en-US" sz="1600" dirty="0"/>
          </a:p>
        </p:txBody>
      </p:sp>
      <p:sp>
        <p:nvSpPr>
          <p:cNvPr id="8" name="Shape 5"/>
          <p:cNvSpPr/>
          <p:nvPr/>
        </p:nvSpPr>
        <p:spPr>
          <a:xfrm>
            <a:off x="457200" y="2194560"/>
            <a:ext cx="3090672" cy="347472"/>
          </a:xfrm>
          <a:prstGeom prst="roundRect">
            <a:avLst>
              <a:gd name="adj" fmla="val 50000"/>
            </a:avLst>
          </a:prstGeom>
          <a:solidFill>
            <a:srgbClr val="C2620A"/>
          </a:solidFill>
          <a:ln/>
        </p:spPr>
      </p:sp>
      <p:sp>
        <p:nvSpPr>
          <p:cNvPr id="9" name="Text 6"/>
          <p:cNvSpPr txBox="1"/>
          <p:nvPr/>
        </p:nvSpPr>
        <p:spPr>
          <a:xfrm>
            <a:off x="457200" y="2194560"/>
            <a:ext cx="30906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Track C  ·  Tech for Digital Balance</a:t>
            </a:r>
            <a:endParaRPr lang="en-US" sz="1200" dirty="0"/>
          </a:p>
        </p:txBody>
      </p:sp>
      <p:sp>
        <p:nvSpPr>
          <p:cNvPr id="10" name="Text 7"/>
          <p:cNvSpPr txBox="1"/>
          <p:nvPr/>
        </p:nvSpPr>
        <p:spPr>
          <a:xfrm>
            <a:off x="457200" y="2788920"/>
            <a:ext cx="3657600" cy="274320"/>
          </a:xfrm>
          <a:prstGeom prst="rect">
            <a:avLst/>
          </a:prstGeom>
          <a:noFill/>
          <a:ln/>
        </p:spPr>
        <p:txBody>
          <a:bodyPr wrap="square" lIns="0" tIns="0" rIns="0" bIns="0" rtlCol="0" anchor="ctr"/>
          <a:lstStyle/>
          <a:p>
            <a:pPr marL="0" indent="0">
              <a:buNone/>
            </a:pPr>
            <a:r>
              <a:rPr lang="en-US" sz="1200" b="1" kern="0" spc="300" dirty="0">
                <a:solidFill>
                  <a:srgbClr val="7FD6C8"/>
                </a:solidFill>
                <a:latin typeface="Calibri" pitchFamily="34" charset="0"/>
                <a:ea typeface="Calibri" pitchFamily="34" charset="-122"/>
                <a:cs typeface="Calibri" pitchFamily="34" charset="-120"/>
              </a:rPr>
              <a:t>THE CHALLENGE</a:t>
            </a:r>
            <a:endParaRPr lang="en-US" sz="1200" dirty="0"/>
          </a:p>
        </p:txBody>
      </p:sp>
      <p:sp>
        <p:nvSpPr>
          <p:cNvPr id="11" name="Text 8"/>
          <p:cNvSpPr txBox="1"/>
          <p:nvPr/>
        </p:nvSpPr>
        <p:spPr>
          <a:xfrm>
            <a:off x="457200" y="3108960"/>
            <a:ext cx="3657600" cy="3383280"/>
          </a:xfrm>
          <a:prstGeom prst="rect">
            <a:avLst/>
          </a:prstGeom>
          <a:noFill/>
          <a:ln/>
        </p:spPr>
        <p:txBody>
          <a:bodyPr wrap="square" lIns="0" tIns="0" rIns="0" bIns="0" rtlCol="0" anchor="t"/>
          <a:lstStyle/>
          <a:p>
            <a:pPr marL="0" indent="0">
              <a:buNone/>
            </a:pPr>
            <a:r>
              <a:rPr lang="en-US" sz="1300" dirty="0">
                <a:solidFill>
                  <a:srgbClr val="E6EEF1"/>
                </a:solidFill>
                <a:latin typeface="Calibri" pitchFamily="34" charset="0"/>
                <a:ea typeface="Calibri" pitchFamily="34" charset="-122"/>
                <a:cs typeface="Calibri" pitchFamily="34" charset="-120"/>
              </a:rPr>
              <a:t>Students may spend excessive time on distracting applications or struggle to maintain a healthy balance between study, rest, entertainment, and social media. Many tools focus only on restricting screen use rather than helping users understand their habits. Build a screen-habit management application that encourages intentional digital use. Users should be able to plan focus sessions, record screen-time behaviour, identify distractions, and review their progress without being shamed or excessively monitored.</a:t>
            </a:r>
            <a:endParaRPr lang="en-US" sz="1300" dirty="0"/>
          </a:p>
        </p:txBody>
      </p:sp>
      <p:sp>
        <p:nvSpPr>
          <p:cNvPr id="12" name="Text 9"/>
          <p:cNvSpPr txBox="1"/>
          <p:nvPr/>
        </p:nvSpPr>
        <p:spPr>
          <a:xfrm>
            <a:off x="5120640" y="457200"/>
            <a:ext cx="6400800" cy="548640"/>
          </a:xfrm>
          <a:prstGeom prst="rect">
            <a:avLst/>
          </a:prstGeom>
          <a:noFill/>
          <a:ln/>
        </p:spPr>
        <p:txBody>
          <a:bodyPr wrap="square" lIns="0" tIns="0" rIns="0" bIns="0" rtlCol="0" anchor="ctr"/>
          <a:lstStyle/>
          <a:p>
            <a:pPr marL="0" indent="0">
              <a:buNone/>
            </a:pPr>
            <a:r>
              <a:rPr lang="en-US" sz="2600" b="1" dirty="0">
                <a:solidFill>
                  <a:srgbClr val="0E2A35"/>
                </a:solidFill>
                <a:latin typeface="Cambria" pitchFamily="34" charset="0"/>
                <a:ea typeface="Cambria" pitchFamily="34" charset="-122"/>
                <a:cs typeface="Cambria" pitchFamily="34" charset="-120"/>
              </a:rPr>
              <a:t>10 Required Deliverables</a:t>
            </a:r>
            <a:endParaRPr lang="en-US" sz="2600" dirty="0"/>
          </a:p>
        </p:txBody>
      </p:sp>
      <p:sp>
        <p:nvSpPr>
          <p:cNvPr id="13" name="Shape 10"/>
          <p:cNvSpPr/>
          <p:nvPr/>
        </p:nvSpPr>
        <p:spPr>
          <a:xfrm>
            <a:off x="5120640" y="1280160"/>
            <a:ext cx="3154680" cy="786384"/>
          </a:xfrm>
          <a:prstGeom prst="roundRect">
            <a:avLst>
              <a:gd name="adj" fmla="val 11628"/>
            </a:avLst>
          </a:prstGeom>
          <a:solidFill>
            <a:srgbClr val="FBEBDC"/>
          </a:solidFill>
          <a:ln/>
        </p:spPr>
      </p:sp>
      <p:sp>
        <p:nvSpPr>
          <p:cNvPr id="14" name="Shape 11"/>
          <p:cNvSpPr/>
          <p:nvPr/>
        </p:nvSpPr>
        <p:spPr>
          <a:xfrm>
            <a:off x="5257800" y="1444752"/>
            <a:ext cx="457200" cy="457200"/>
          </a:xfrm>
          <a:prstGeom prst="ellipse">
            <a:avLst/>
          </a:prstGeom>
          <a:solidFill>
            <a:srgbClr val="C2620A"/>
          </a:solidFill>
          <a:ln/>
        </p:spPr>
      </p:sp>
      <p:sp>
        <p:nvSpPr>
          <p:cNvPr id="15" name="Text 12"/>
          <p:cNvSpPr txBox="1"/>
          <p:nvPr/>
        </p:nvSpPr>
        <p:spPr>
          <a:xfrm>
            <a:off x="5257800" y="1444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6" name="Text 13"/>
          <p:cNvSpPr txBox="1"/>
          <p:nvPr/>
        </p:nvSpPr>
        <p:spPr>
          <a:xfrm>
            <a:off x="5833872" y="13075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Daily focus-session planner</a:t>
            </a:r>
            <a:endParaRPr lang="en-US" sz="1400" dirty="0"/>
          </a:p>
        </p:txBody>
      </p:sp>
      <p:sp>
        <p:nvSpPr>
          <p:cNvPr id="17" name="Shape 14"/>
          <p:cNvSpPr/>
          <p:nvPr/>
        </p:nvSpPr>
        <p:spPr>
          <a:xfrm>
            <a:off x="5120640" y="2194560"/>
            <a:ext cx="3154680" cy="786384"/>
          </a:xfrm>
          <a:prstGeom prst="roundRect">
            <a:avLst>
              <a:gd name="adj" fmla="val 11628"/>
            </a:avLst>
          </a:prstGeom>
          <a:solidFill>
            <a:srgbClr val="FBEBDC"/>
          </a:solidFill>
          <a:ln/>
        </p:spPr>
      </p:sp>
      <p:sp>
        <p:nvSpPr>
          <p:cNvPr id="18" name="Shape 15"/>
          <p:cNvSpPr/>
          <p:nvPr/>
        </p:nvSpPr>
        <p:spPr>
          <a:xfrm>
            <a:off x="5257800" y="2359152"/>
            <a:ext cx="457200" cy="457200"/>
          </a:xfrm>
          <a:prstGeom prst="ellipse">
            <a:avLst/>
          </a:prstGeom>
          <a:solidFill>
            <a:srgbClr val="C2620A"/>
          </a:solidFill>
          <a:ln/>
        </p:spPr>
      </p:sp>
      <p:sp>
        <p:nvSpPr>
          <p:cNvPr id="19" name="Text 16"/>
          <p:cNvSpPr txBox="1"/>
          <p:nvPr/>
        </p:nvSpPr>
        <p:spPr>
          <a:xfrm>
            <a:off x="5257800" y="23591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0" name="Text 17"/>
          <p:cNvSpPr txBox="1"/>
          <p:nvPr/>
        </p:nvSpPr>
        <p:spPr>
          <a:xfrm>
            <a:off x="5833872" y="22219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Customisable focus timer</a:t>
            </a:r>
            <a:endParaRPr lang="en-US" sz="1400" dirty="0"/>
          </a:p>
        </p:txBody>
      </p:sp>
      <p:sp>
        <p:nvSpPr>
          <p:cNvPr id="21" name="Shape 18"/>
          <p:cNvSpPr/>
          <p:nvPr/>
        </p:nvSpPr>
        <p:spPr>
          <a:xfrm>
            <a:off x="5120640" y="3108960"/>
            <a:ext cx="3154680" cy="786384"/>
          </a:xfrm>
          <a:prstGeom prst="roundRect">
            <a:avLst>
              <a:gd name="adj" fmla="val 11628"/>
            </a:avLst>
          </a:prstGeom>
          <a:solidFill>
            <a:srgbClr val="FBEBDC"/>
          </a:solidFill>
          <a:ln/>
        </p:spPr>
      </p:sp>
      <p:sp>
        <p:nvSpPr>
          <p:cNvPr id="22" name="Shape 19"/>
          <p:cNvSpPr/>
          <p:nvPr/>
        </p:nvSpPr>
        <p:spPr>
          <a:xfrm>
            <a:off x="5257800" y="3273552"/>
            <a:ext cx="457200" cy="457200"/>
          </a:xfrm>
          <a:prstGeom prst="ellipse">
            <a:avLst/>
          </a:prstGeom>
          <a:solidFill>
            <a:srgbClr val="C2620A"/>
          </a:solidFill>
          <a:ln/>
        </p:spPr>
      </p:sp>
      <p:sp>
        <p:nvSpPr>
          <p:cNvPr id="23" name="Text 20"/>
          <p:cNvSpPr txBox="1"/>
          <p:nvPr/>
        </p:nvSpPr>
        <p:spPr>
          <a:xfrm>
            <a:off x="5257800" y="3273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4" name="Text 21"/>
          <p:cNvSpPr txBox="1"/>
          <p:nvPr/>
        </p:nvSpPr>
        <p:spPr>
          <a:xfrm>
            <a:off x="5833872" y="31363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Break and rest reminders</a:t>
            </a:r>
            <a:endParaRPr lang="en-US" sz="1400" dirty="0"/>
          </a:p>
        </p:txBody>
      </p:sp>
      <p:sp>
        <p:nvSpPr>
          <p:cNvPr id="25" name="Shape 22"/>
          <p:cNvSpPr/>
          <p:nvPr/>
        </p:nvSpPr>
        <p:spPr>
          <a:xfrm>
            <a:off x="5120640" y="4023360"/>
            <a:ext cx="3154680" cy="786384"/>
          </a:xfrm>
          <a:prstGeom prst="roundRect">
            <a:avLst>
              <a:gd name="adj" fmla="val 11628"/>
            </a:avLst>
          </a:prstGeom>
          <a:solidFill>
            <a:srgbClr val="FBEBDC"/>
          </a:solidFill>
          <a:ln/>
        </p:spPr>
      </p:sp>
      <p:sp>
        <p:nvSpPr>
          <p:cNvPr id="26" name="Shape 23"/>
          <p:cNvSpPr/>
          <p:nvPr/>
        </p:nvSpPr>
        <p:spPr>
          <a:xfrm>
            <a:off x="5257800" y="4187952"/>
            <a:ext cx="457200" cy="457200"/>
          </a:xfrm>
          <a:prstGeom prst="ellipse">
            <a:avLst/>
          </a:prstGeom>
          <a:solidFill>
            <a:srgbClr val="C2620A"/>
          </a:solidFill>
          <a:ln/>
        </p:spPr>
      </p:sp>
      <p:sp>
        <p:nvSpPr>
          <p:cNvPr id="27" name="Text 24"/>
          <p:cNvSpPr txBox="1"/>
          <p:nvPr/>
        </p:nvSpPr>
        <p:spPr>
          <a:xfrm>
            <a:off x="5257800" y="41879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8" name="Text 25"/>
          <p:cNvSpPr txBox="1"/>
          <p:nvPr/>
        </p:nvSpPr>
        <p:spPr>
          <a:xfrm>
            <a:off x="5833872" y="40507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Manual or simulated screen-time logging</a:t>
            </a:r>
            <a:endParaRPr lang="en-US" sz="1400" dirty="0"/>
          </a:p>
        </p:txBody>
      </p:sp>
      <p:sp>
        <p:nvSpPr>
          <p:cNvPr id="29" name="Shape 26"/>
          <p:cNvSpPr/>
          <p:nvPr/>
        </p:nvSpPr>
        <p:spPr>
          <a:xfrm>
            <a:off x="5120640" y="4937760"/>
            <a:ext cx="3154680" cy="786384"/>
          </a:xfrm>
          <a:prstGeom prst="roundRect">
            <a:avLst>
              <a:gd name="adj" fmla="val 11628"/>
            </a:avLst>
          </a:prstGeom>
          <a:solidFill>
            <a:srgbClr val="FBEBDC"/>
          </a:solidFill>
          <a:ln/>
        </p:spPr>
      </p:sp>
      <p:sp>
        <p:nvSpPr>
          <p:cNvPr id="30" name="Shape 27"/>
          <p:cNvSpPr/>
          <p:nvPr/>
        </p:nvSpPr>
        <p:spPr>
          <a:xfrm>
            <a:off x="5257800" y="5102352"/>
            <a:ext cx="457200" cy="457200"/>
          </a:xfrm>
          <a:prstGeom prst="ellipse">
            <a:avLst/>
          </a:prstGeom>
          <a:solidFill>
            <a:srgbClr val="C2620A"/>
          </a:solidFill>
          <a:ln/>
        </p:spPr>
      </p:sp>
      <p:sp>
        <p:nvSpPr>
          <p:cNvPr id="31" name="Text 28"/>
          <p:cNvSpPr txBox="1"/>
          <p:nvPr/>
        </p:nvSpPr>
        <p:spPr>
          <a:xfrm>
            <a:off x="5257800" y="5102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2" name="Text 29"/>
          <p:cNvSpPr txBox="1"/>
          <p:nvPr/>
        </p:nvSpPr>
        <p:spPr>
          <a:xfrm>
            <a:off x="5833872" y="49651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Distraction-trigger recording</a:t>
            </a:r>
            <a:endParaRPr lang="en-US" sz="1400" dirty="0"/>
          </a:p>
        </p:txBody>
      </p:sp>
      <p:sp>
        <p:nvSpPr>
          <p:cNvPr id="33" name="Shape 30"/>
          <p:cNvSpPr/>
          <p:nvPr/>
        </p:nvSpPr>
        <p:spPr>
          <a:xfrm>
            <a:off x="8577072" y="1280160"/>
            <a:ext cx="3154680" cy="786384"/>
          </a:xfrm>
          <a:prstGeom prst="roundRect">
            <a:avLst>
              <a:gd name="adj" fmla="val 11628"/>
            </a:avLst>
          </a:prstGeom>
          <a:solidFill>
            <a:srgbClr val="FBEBDC"/>
          </a:solidFill>
          <a:ln/>
        </p:spPr>
      </p:sp>
      <p:sp>
        <p:nvSpPr>
          <p:cNvPr id="34" name="Shape 31"/>
          <p:cNvSpPr/>
          <p:nvPr/>
        </p:nvSpPr>
        <p:spPr>
          <a:xfrm>
            <a:off x="8714232" y="1444752"/>
            <a:ext cx="457200" cy="457200"/>
          </a:xfrm>
          <a:prstGeom prst="ellipse">
            <a:avLst/>
          </a:prstGeom>
          <a:solidFill>
            <a:srgbClr val="C2620A"/>
          </a:solidFill>
          <a:ln/>
        </p:spPr>
      </p:sp>
      <p:sp>
        <p:nvSpPr>
          <p:cNvPr id="35" name="Text 32"/>
          <p:cNvSpPr txBox="1"/>
          <p:nvPr/>
        </p:nvSpPr>
        <p:spPr>
          <a:xfrm>
            <a:off x="8714232" y="1444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6" name="Text 33"/>
          <p:cNvSpPr txBox="1"/>
          <p:nvPr/>
        </p:nvSpPr>
        <p:spPr>
          <a:xfrm>
            <a:off x="9290304" y="13075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Daily and weekly progress dashboard</a:t>
            </a:r>
            <a:endParaRPr lang="en-US" sz="1400" dirty="0"/>
          </a:p>
        </p:txBody>
      </p:sp>
      <p:sp>
        <p:nvSpPr>
          <p:cNvPr id="37" name="Shape 34"/>
          <p:cNvSpPr/>
          <p:nvPr/>
        </p:nvSpPr>
        <p:spPr>
          <a:xfrm>
            <a:off x="8577072" y="2194560"/>
            <a:ext cx="3154680" cy="786384"/>
          </a:xfrm>
          <a:prstGeom prst="roundRect">
            <a:avLst>
              <a:gd name="adj" fmla="val 11628"/>
            </a:avLst>
          </a:prstGeom>
          <a:solidFill>
            <a:srgbClr val="FBEBDC"/>
          </a:solidFill>
          <a:ln/>
        </p:spPr>
      </p:sp>
      <p:sp>
        <p:nvSpPr>
          <p:cNvPr id="38" name="Shape 35"/>
          <p:cNvSpPr/>
          <p:nvPr/>
        </p:nvSpPr>
        <p:spPr>
          <a:xfrm>
            <a:off x="8714232" y="2359152"/>
            <a:ext cx="457200" cy="457200"/>
          </a:xfrm>
          <a:prstGeom prst="ellipse">
            <a:avLst/>
          </a:prstGeom>
          <a:solidFill>
            <a:srgbClr val="C2620A"/>
          </a:solidFill>
          <a:ln/>
        </p:spPr>
      </p:sp>
      <p:sp>
        <p:nvSpPr>
          <p:cNvPr id="39" name="Text 36"/>
          <p:cNvSpPr txBox="1"/>
          <p:nvPr/>
        </p:nvSpPr>
        <p:spPr>
          <a:xfrm>
            <a:off x="8714232" y="23591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0" name="Text 37"/>
          <p:cNvSpPr txBox="1"/>
          <p:nvPr/>
        </p:nvSpPr>
        <p:spPr>
          <a:xfrm>
            <a:off x="9290304" y="22219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Focus goals and completion tracking</a:t>
            </a:r>
            <a:endParaRPr lang="en-US" sz="1400" dirty="0"/>
          </a:p>
        </p:txBody>
      </p:sp>
      <p:sp>
        <p:nvSpPr>
          <p:cNvPr id="41" name="Shape 38"/>
          <p:cNvSpPr/>
          <p:nvPr/>
        </p:nvSpPr>
        <p:spPr>
          <a:xfrm>
            <a:off x="8577072" y="3108960"/>
            <a:ext cx="3154680" cy="786384"/>
          </a:xfrm>
          <a:prstGeom prst="roundRect">
            <a:avLst>
              <a:gd name="adj" fmla="val 11628"/>
            </a:avLst>
          </a:prstGeom>
          <a:solidFill>
            <a:srgbClr val="FBEBDC"/>
          </a:solidFill>
          <a:ln/>
        </p:spPr>
      </p:sp>
      <p:sp>
        <p:nvSpPr>
          <p:cNvPr id="42" name="Shape 39"/>
          <p:cNvSpPr/>
          <p:nvPr/>
        </p:nvSpPr>
        <p:spPr>
          <a:xfrm>
            <a:off x="8714232" y="3273552"/>
            <a:ext cx="457200" cy="457200"/>
          </a:xfrm>
          <a:prstGeom prst="ellipse">
            <a:avLst/>
          </a:prstGeom>
          <a:solidFill>
            <a:srgbClr val="C2620A"/>
          </a:solidFill>
          <a:ln/>
        </p:spPr>
      </p:sp>
      <p:sp>
        <p:nvSpPr>
          <p:cNvPr id="43" name="Text 40"/>
          <p:cNvSpPr txBox="1"/>
          <p:nvPr/>
        </p:nvSpPr>
        <p:spPr>
          <a:xfrm>
            <a:off x="8714232" y="3273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4" name="Text 41"/>
          <p:cNvSpPr txBox="1"/>
          <p:nvPr/>
        </p:nvSpPr>
        <p:spPr>
          <a:xfrm>
            <a:off x="9290304" y="31363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Configurable notification and reminder settings</a:t>
            </a:r>
            <a:endParaRPr lang="en-US" sz="1400" dirty="0"/>
          </a:p>
        </p:txBody>
      </p:sp>
      <p:sp>
        <p:nvSpPr>
          <p:cNvPr id="45" name="Shape 42"/>
          <p:cNvSpPr/>
          <p:nvPr/>
        </p:nvSpPr>
        <p:spPr>
          <a:xfrm>
            <a:off x="8577072" y="4023360"/>
            <a:ext cx="3154680" cy="786384"/>
          </a:xfrm>
          <a:prstGeom prst="roundRect">
            <a:avLst>
              <a:gd name="adj" fmla="val 11628"/>
            </a:avLst>
          </a:prstGeom>
          <a:solidFill>
            <a:srgbClr val="FBEBDC"/>
          </a:solidFill>
          <a:ln/>
        </p:spPr>
      </p:sp>
      <p:sp>
        <p:nvSpPr>
          <p:cNvPr id="46" name="Shape 43"/>
          <p:cNvSpPr/>
          <p:nvPr/>
        </p:nvSpPr>
        <p:spPr>
          <a:xfrm>
            <a:off x="8714232" y="4187952"/>
            <a:ext cx="457200" cy="457200"/>
          </a:xfrm>
          <a:prstGeom prst="ellipse">
            <a:avLst/>
          </a:prstGeom>
          <a:solidFill>
            <a:srgbClr val="C2620A"/>
          </a:solidFill>
          <a:ln/>
        </p:spPr>
      </p:sp>
      <p:sp>
        <p:nvSpPr>
          <p:cNvPr id="47" name="Text 44"/>
          <p:cNvSpPr txBox="1"/>
          <p:nvPr/>
        </p:nvSpPr>
        <p:spPr>
          <a:xfrm>
            <a:off x="8714232" y="41879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8" name="Text 45"/>
          <p:cNvSpPr txBox="1"/>
          <p:nvPr/>
        </p:nvSpPr>
        <p:spPr>
          <a:xfrm>
            <a:off x="9290304" y="40507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Personalised, non-judgmental digital-balance tips</a:t>
            </a:r>
            <a:endParaRPr lang="en-US" sz="1400" dirty="0"/>
          </a:p>
        </p:txBody>
      </p:sp>
      <p:sp>
        <p:nvSpPr>
          <p:cNvPr id="49" name="Shape 46"/>
          <p:cNvSpPr/>
          <p:nvPr/>
        </p:nvSpPr>
        <p:spPr>
          <a:xfrm>
            <a:off x="8577072" y="4937760"/>
            <a:ext cx="3154680" cy="786384"/>
          </a:xfrm>
          <a:prstGeom prst="roundRect">
            <a:avLst>
              <a:gd name="adj" fmla="val 11628"/>
            </a:avLst>
          </a:prstGeom>
          <a:solidFill>
            <a:srgbClr val="FBEBDC"/>
          </a:solidFill>
          <a:ln/>
        </p:spPr>
      </p:sp>
      <p:sp>
        <p:nvSpPr>
          <p:cNvPr id="50" name="Shape 47"/>
          <p:cNvSpPr/>
          <p:nvPr/>
        </p:nvSpPr>
        <p:spPr>
          <a:xfrm>
            <a:off x="8714232" y="5102352"/>
            <a:ext cx="457200" cy="457200"/>
          </a:xfrm>
          <a:prstGeom prst="ellipse">
            <a:avLst/>
          </a:prstGeom>
          <a:solidFill>
            <a:srgbClr val="C2620A"/>
          </a:solidFill>
          <a:ln/>
        </p:spPr>
      </p:sp>
      <p:sp>
        <p:nvSpPr>
          <p:cNvPr id="51" name="Text 48"/>
          <p:cNvSpPr txBox="1"/>
          <p:nvPr/>
        </p:nvSpPr>
        <p:spPr>
          <a:xfrm>
            <a:off x="8714232" y="5102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52" name="Text 49"/>
          <p:cNvSpPr txBox="1"/>
          <p:nvPr/>
        </p:nvSpPr>
        <p:spPr>
          <a:xfrm>
            <a:off x="9290304" y="49651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Data reset, export, and privacy controls</a:t>
            </a:r>
            <a:endParaRPr lang="en-US" sz="1400" dirty="0"/>
          </a:p>
        </p:txBody>
      </p:sp>
      <p:sp>
        <p:nvSpPr>
          <p:cNvPr id="53" name="Text 50"/>
          <p:cNvSpPr txBox="1"/>
          <p:nvPr/>
        </p:nvSpPr>
        <p:spPr>
          <a:xfrm>
            <a:off x="5120640" y="6355080"/>
            <a:ext cx="658368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BYTEQUEST|  Clear Mind. Clean Code.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9"/>
        </a:solidFill>
        <a:effectLst/>
      </p:bgPr>
    </p:bg>
    <p:spTree>
      <p:nvGrpSpPr>
        <p:cNvPr id="1" name=""/>
        <p:cNvGrpSpPr/>
        <p:nvPr/>
      </p:nvGrpSpPr>
      <p:grpSpPr>
        <a:xfrm>
          <a:off x="0" y="0"/>
          <a:ext cx="0" cy="0"/>
          <a:chOff x="0" y="0"/>
          <a:chExt cx="0" cy="0"/>
        </a:xfrm>
      </p:grpSpPr>
      <p:sp>
        <p:nvSpPr>
          <p:cNvPr id="2" name="Shape 0"/>
          <p:cNvSpPr/>
          <p:nvPr/>
        </p:nvSpPr>
        <p:spPr>
          <a:xfrm>
            <a:off x="0" y="0"/>
            <a:ext cx="4572000" cy="6858000"/>
          </a:xfrm>
          <a:prstGeom prst="rect">
            <a:avLst/>
          </a:prstGeom>
          <a:solidFill>
            <a:srgbClr val="0E2A35"/>
          </a:solidFill>
          <a:ln/>
        </p:spPr>
      </p:sp>
      <p:sp>
        <p:nvSpPr>
          <p:cNvPr id="3" name="Shape 1"/>
          <p:cNvSpPr/>
          <p:nvPr/>
        </p:nvSpPr>
        <p:spPr>
          <a:xfrm>
            <a:off x="457200" y="457200"/>
            <a:ext cx="502920" cy="502920"/>
          </a:xfrm>
          <a:prstGeom prst="ellipse">
            <a:avLst/>
          </a:prstGeom>
          <a:solidFill>
            <a:srgbClr val="0F8B78"/>
          </a:solidFill>
          <a:ln/>
        </p:spPr>
      </p:sp>
      <p:pic>
        <p:nvPicPr>
          <p:cNvPr id="4" name="Image 0" descr="preencoded.png"/>
          <p:cNvPicPr>
            <a:picLocks noChangeAspect="1"/>
          </p:cNvPicPr>
          <p:nvPr/>
        </p:nvPicPr>
        <p:blipFill>
          <a:blip r:embed="rId3"/>
          <a:stretch>
            <a:fillRect/>
          </a:stretch>
        </p:blipFill>
        <p:spPr>
          <a:xfrm>
            <a:off x="576072" y="576072"/>
            <a:ext cx="265176" cy="265176"/>
          </a:xfrm>
          <a:prstGeom prst="rect">
            <a:avLst/>
          </a:prstGeom>
        </p:spPr>
      </p:pic>
      <p:sp>
        <p:nvSpPr>
          <p:cNvPr id="5" name="Text 2"/>
          <p:cNvSpPr txBox="1"/>
          <p:nvPr/>
        </p:nvSpPr>
        <p:spPr>
          <a:xfrm>
            <a:off x="1143000" y="457200"/>
            <a:ext cx="3017520" cy="502920"/>
          </a:xfrm>
          <a:prstGeom prst="rect">
            <a:avLst/>
          </a:prstGeom>
          <a:noFill/>
          <a:ln/>
        </p:spPr>
        <p:txBody>
          <a:bodyPr wrap="square" lIns="0" tIns="0" rIns="0" bIns="0" rtlCol="0" anchor="ctr"/>
          <a:lstStyle/>
          <a:p>
            <a:pPr marL="0" indent="0">
              <a:buNone/>
            </a:pPr>
            <a:r>
              <a:rPr lang="en-US" sz="1400" b="1" kern="0" spc="300" dirty="0">
                <a:solidFill>
                  <a:srgbClr val="7FD6C8"/>
                </a:solidFill>
                <a:latin typeface="Calibri" pitchFamily="34" charset="0"/>
                <a:ea typeface="Calibri" pitchFamily="34" charset="-122"/>
                <a:cs typeface="Calibri" pitchFamily="34" charset="-120"/>
              </a:rPr>
              <a:t>PROBLEM 05</a:t>
            </a:r>
            <a:endParaRPr lang="en-US" sz="1400" dirty="0"/>
          </a:p>
        </p:txBody>
      </p:sp>
      <p:sp>
        <p:nvSpPr>
          <p:cNvPr id="6" name="Text 3"/>
          <p:cNvSpPr txBox="1"/>
          <p:nvPr/>
        </p:nvSpPr>
        <p:spPr>
          <a:xfrm>
            <a:off x="457200" y="1188720"/>
            <a:ext cx="3657600" cy="914400"/>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Anonymous Recovery Companion</a:t>
            </a:r>
            <a:endParaRPr lang="en-US" sz="2600" dirty="0"/>
          </a:p>
        </p:txBody>
      </p:sp>
      <p:sp>
        <p:nvSpPr>
          <p:cNvPr id="7" name="Shape 4"/>
          <p:cNvSpPr/>
          <p:nvPr/>
        </p:nvSpPr>
        <p:spPr>
          <a:xfrm>
            <a:off x="457200" y="2240280"/>
            <a:ext cx="2482596" cy="347472"/>
          </a:xfrm>
          <a:prstGeom prst="roundRect">
            <a:avLst>
              <a:gd name="adj" fmla="val 50000"/>
            </a:avLst>
          </a:prstGeom>
          <a:solidFill>
            <a:srgbClr val="0F8B78"/>
          </a:solidFill>
          <a:ln/>
        </p:spPr>
      </p:sp>
      <p:sp>
        <p:nvSpPr>
          <p:cNvPr id="8" name="Text 5"/>
          <p:cNvSpPr txBox="1"/>
          <p:nvPr/>
        </p:nvSpPr>
        <p:spPr>
          <a:xfrm>
            <a:off x="457200" y="2240280"/>
            <a:ext cx="2482596"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Track A  ·  Tech for Recovery</a:t>
            </a:r>
            <a:endParaRPr lang="en-US" sz="1200" dirty="0"/>
          </a:p>
        </p:txBody>
      </p:sp>
      <p:sp>
        <p:nvSpPr>
          <p:cNvPr id="9" name="Text 6"/>
          <p:cNvSpPr txBox="1"/>
          <p:nvPr/>
        </p:nvSpPr>
        <p:spPr>
          <a:xfrm>
            <a:off x="457200" y="2834640"/>
            <a:ext cx="3657600" cy="274320"/>
          </a:xfrm>
          <a:prstGeom prst="rect">
            <a:avLst/>
          </a:prstGeom>
          <a:noFill/>
          <a:ln/>
        </p:spPr>
        <p:txBody>
          <a:bodyPr wrap="square" lIns="0" tIns="0" rIns="0" bIns="0" rtlCol="0" anchor="ctr"/>
          <a:lstStyle/>
          <a:p>
            <a:pPr marL="0" indent="0">
              <a:buNone/>
            </a:pPr>
            <a:r>
              <a:rPr lang="en-US" sz="1200" b="1" kern="0" spc="300" dirty="0">
                <a:solidFill>
                  <a:srgbClr val="7FD6C8"/>
                </a:solidFill>
                <a:latin typeface="Calibri" pitchFamily="34" charset="0"/>
                <a:ea typeface="Calibri" pitchFamily="34" charset="-122"/>
                <a:cs typeface="Calibri" pitchFamily="34" charset="-120"/>
              </a:rPr>
              <a:t>THE CHALLENGE</a:t>
            </a:r>
            <a:endParaRPr lang="en-US" sz="1200" dirty="0"/>
          </a:p>
        </p:txBody>
      </p:sp>
      <p:sp>
        <p:nvSpPr>
          <p:cNvPr id="10" name="Text 7"/>
          <p:cNvSpPr txBox="1"/>
          <p:nvPr/>
        </p:nvSpPr>
        <p:spPr>
          <a:xfrm>
            <a:off x="457200" y="3154680"/>
            <a:ext cx="3657600" cy="3337560"/>
          </a:xfrm>
          <a:prstGeom prst="rect">
            <a:avLst/>
          </a:prstGeom>
          <a:noFill/>
          <a:ln/>
        </p:spPr>
        <p:txBody>
          <a:bodyPr wrap="square" lIns="0" tIns="0" rIns="0" bIns="0" rtlCol="0" anchor="t"/>
          <a:lstStyle/>
          <a:p>
            <a:pPr marL="0" indent="0">
              <a:buNone/>
            </a:pPr>
            <a:r>
              <a:rPr lang="en-US" sz="1300" dirty="0">
                <a:solidFill>
                  <a:srgbClr val="E6EEF1"/>
                </a:solidFill>
                <a:latin typeface="Calibri" pitchFamily="34" charset="0"/>
                <a:ea typeface="Calibri" pitchFamily="34" charset="-122"/>
                <a:cs typeface="Calibri" pitchFamily="34" charset="-120"/>
              </a:rPr>
              <a:t>People working toward recovery may need consistent encouragement, private reflection tools, coping strategies, and easy access to trusted support. A digital companion can help users organise their goals and recognise difficult situations, but it must not replace professional care or make medical claims. Develop a private recovery-support companion that helps users record goals, track milestones, identify triggers, create coping plans, and access verified support resources. The design should be supportive, respectful, and completely non-judgmental.</a:t>
            </a:r>
            <a:endParaRPr lang="en-US" sz="1300" dirty="0"/>
          </a:p>
        </p:txBody>
      </p:sp>
      <p:sp>
        <p:nvSpPr>
          <p:cNvPr id="11" name="Text 8"/>
          <p:cNvSpPr txBox="1"/>
          <p:nvPr/>
        </p:nvSpPr>
        <p:spPr>
          <a:xfrm>
            <a:off x="5120640" y="457200"/>
            <a:ext cx="6400800" cy="548640"/>
          </a:xfrm>
          <a:prstGeom prst="rect">
            <a:avLst/>
          </a:prstGeom>
          <a:noFill/>
          <a:ln/>
        </p:spPr>
        <p:txBody>
          <a:bodyPr wrap="square" lIns="0" tIns="0" rIns="0" bIns="0" rtlCol="0" anchor="ctr"/>
          <a:lstStyle/>
          <a:p>
            <a:pPr marL="0" indent="0">
              <a:buNone/>
            </a:pPr>
            <a:r>
              <a:rPr lang="en-US" sz="2600" b="1" dirty="0">
                <a:solidFill>
                  <a:srgbClr val="0E2A35"/>
                </a:solidFill>
                <a:latin typeface="Cambria" pitchFamily="34" charset="0"/>
                <a:ea typeface="Cambria" pitchFamily="34" charset="-122"/>
                <a:cs typeface="Cambria" pitchFamily="34" charset="-120"/>
              </a:rPr>
              <a:t>10 Required Deliverables</a:t>
            </a:r>
            <a:endParaRPr lang="en-US" sz="2600" dirty="0"/>
          </a:p>
        </p:txBody>
      </p:sp>
      <p:sp>
        <p:nvSpPr>
          <p:cNvPr id="12" name="Shape 9"/>
          <p:cNvSpPr/>
          <p:nvPr/>
        </p:nvSpPr>
        <p:spPr>
          <a:xfrm>
            <a:off x="5120640" y="1280160"/>
            <a:ext cx="3154680" cy="786384"/>
          </a:xfrm>
          <a:prstGeom prst="roundRect">
            <a:avLst>
              <a:gd name="adj" fmla="val 11628"/>
            </a:avLst>
          </a:prstGeom>
          <a:solidFill>
            <a:srgbClr val="E2F2EF"/>
          </a:solidFill>
          <a:ln/>
        </p:spPr>
      </p:sp>
      <p:sp>
        <p:nvSpPr>
          <p:cNvPr id="13" name="Shape 10"/>
          <p:cNvSpPr/>
          <p:nvPr/>
        </p:nvSpPr>
        <p:spPr>
          <a:xfrm>
            <a:off x="5257800" y="1444752"/>
            <a:ext cx="457200" cy="457200"/>
          </a:xfrm>
          <a:prstGeom prst="ellipse">
            <a:avLst/>
          </a:prstGeom>
          <a:solidFill>
            <a:srgbClr val="0F8B78"/>
          </a:solidFill>
          <a:ln/>
        </p:spPr>
      </p:sp>
      <p:sp>
        <p:nvSpPr>
          <p:cNvPr id="14" name="Text 11"/>
          <p:cNvSpPr txBox="1"/>
          <p:nvPr/>
        </p:nvSpPr>
        <p:spPr>
          <a:xfrm>
            <a:off x="5257800" y="1444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5" name="Text 12"/>
          <p:cNvSpPr txBox="1"/>
          <p:nvPr/>
        </p:nvSpPr>
        <p:spPr>
          <a:xfrm>
            <a:off x="5833872" y="13075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Private recovery-goal setup</a:t>
            </a:r>
            <a:endParaRPr lang="en-US" sz="1400" dirty="0"/>
          </a:p>
        </p:txBody>
      </p:sp>
      <p:sp>
        <p:nvSpPr>
          <p:cNvPr id="16" name="Shape 13"/>
          <p:cNvSpPr/>
          <p:nvPr/>
        </p:nvSpPr>
        <p:spPr>
          <a:xfrm>
            <a:off x="5120640" y="2194560"/>
            <a:ext cx="3154680" cy="786384"/>
          </a:xfrm>
          <a:prstGeom prst="roundRect">
            <a:avLst>
              <a:gd name="adj" fmla="val 11628"/>
            </a:avLst>
          </a:prstGeom>
          <a:solidFill>
            <a:srgbClr val="E2F2EF"/>
          </a:solidFill>
          <a:ln/>
        </p:spPr>
      </p:sp>
      <p:sp>
        <p:nvSpPr>
          <p:cNvPr id="17" name="Shape 14"/>
          <p:cNvSpPr/>
          <p:nvPr/>
        </p:nvSpPr>
        <p:spPr>
          <a:xfrm>
            <a:off x="5257800" y="2359152"/>
            <a:ext cx="457200" cy="457200"/>
          </a:xfrm>
          <a:prstGeom prst="ellipse">
            <a:avLst/>
          </a:prstGeom>
          <a:solidFill>
            <a:srgbClr val="0F8B78"/>
          </a:solidFill>
          <a:ln/>
        </p:spPr>
      </p:sp>
      <p:sp>
        <p:nvSpPr>
          <p:cNvPr id="18" name="Text 15"/>
          <p:cNvSpPr txBox="1"/>
          <p:nvPr/>
        </p:nvSpPr>
        <p:spPr>
          <a:xfrm>
            <a:off x="5257800" y="23591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9" name="Text 16"/>
          <p:cNvSpPr txBox="1"/>
          <p:nvPr/>
        </p:nvSpPr>
        <p:spPr>
          <a:xfrm>
            <a:off x="5833872" y="22219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Daily check-in for feelings, challenges, and progress</a:t>
            </a:r>
            <a:endParaRPr lang="en-US" sz="1400" dirty="0"/>
          </a:p>
        </p:txBody>
      </p:sp>
      <p:sp>
        <p:nvSpPr>
          <p:cNvPr id="20" name="Shape 17"/>
          <p:cNvSpPr/>
          <p:nvPr/>
        </p:nvSpPr>
        <p:spPr>
          <a:xfrm>
            <a:off x="5120640" y="3108960"/>
            <a:ext cx="3154680" cy="786384"/>
          </a:xfrm>
          <a:prstGeom prst="roundRect">
            <a:avLst>
              <a:gd name="adj" fmla="val 11628"/>
            </a:avLst>
          </a:prstGeom>
          <a:solidFill>
            <a:srgbClr val="E2F2EF"/>
          </a:solidFill>
          <a:ln/>
        </p:spPr>
      </p:sp>
      <p:sp>
        <p:nvSpPr>
          <p:cNvPr id="21" name="Shape 18"/>
          <p:cNvSpPr/>
          <p:nvPr/>
        </p:nvSpPr>
        <p:spPr>
          <a:xfrm>
            <a:off x="5257800" y="3273552"/>
            <a:ext cx="457200" cy="457200"/>
          </a:xfrm>
          <a:prstGeom prst="ellipse">
            <a:avLst/>
          </a:prstGeom>
          <a:solidFill>
            <a:srgbClr val="0F8B78"/>
          </a:solidFill>
          <a:ln/>
        </p:spPr>
      </p:sp>
      <p:sp>
        <p:nvSpPr>
          <p:cNvPr id="22" name="Text 19"/>
          <p:cNvSpPr txBox="1"/>
          <p:nvPr/>
        </p:nvSpPr>
        <p:spPr>
          <a:xfrm>
            <a:off x="5257800" y="3273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3" name="Text 20"/>
          <p:cNvSpPr txBox="1"/>
          <p:nvPr/>
        </p:nvSpPr>
        <p:spPr>
          <a:xfrm>
            <a:off x="5833872" y="31363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Milestone and progress tracker</a:t>
            </a:r>
            <a:endParaRPr lang="en-US" sz="1400" dirty="0"/>
          </a:p>
        </p:txBody>
      </p:sp>
      <p:sp>
        <p:nvSpPr>
          <p:cNvPr id="24" name="Shape 21"/>
          <p:cNvSpPr/>
          <p:nvPr/>
        </p:nvSpPr>
        <p:spPr>
          <a:xfrm>
            <a:off x="5120640" y="4023360"/>
            <a:ext cx="3154680" cy="786384"/>
          </a:xfrm>
          <a:prstGeom prst="roundRect">
            <a:avLst>
              <a:gd name="adj" fmla="val 11628"/>
            </a:avLst>
          </a:prstGeom>
          <a:solidFill>
            <a:srgbClr val="E2F2EF"/>
          </a:solidFill>
          <a:ln/>
        </p:spPr>
      </p:sp>
      <p:sp>
        <p:nvSpPr>
          <p:cNvPr id="25" name="Shape 22"/>
          <p:cNvSpPr/>
          <p:nvPr/>
        </p:nvSpPr>
        <p:spPr>
          <a:xfrm>
            <a:off x="5257800" y="4187952"/>
            <a:ext cx="457200" cy="457200"/>
          </a:xfrm>
          <a:prstGeom prst="ellipse">
            <a:avLst/>
          </a:prstGeom>
          <a:solidFill>
            <a:srgbClr val="0F8B78"/>
          </a:solidFill>
          <a:ln/>
        </p:spPr>
      </p:sp>
      <p:sp>
        <p:nvSpPr>
          <p:cNvPr id="26" name="Text 23"/>
          <p:cNvSpPr txBox="1"/>
          <p:nvPr/>
        </p:nvSpPr>
        <p:spPr>
          <a:xfrm>
            <a:off x="5257800" y="41879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7" name="Text 24"/>
          <p:cNvSpPr txBox="1"/>
          <p:nvPr/>
        </p:nvSpPr>
        <p:spPr>
          <a:xfrm>
            <a:off x="5833872" y="40507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Trigger and coping-strategy log</a:t>
            </a:r>
            <a:endParaRPr lang="en-US" sz="1400" dirty="0"/>
          </a:p>
        </p:txBody>
      </p:sp>
      <p:sp>
        <p:nvSpPr>
          <p:cNvPr id="28" name="Shape 25"/>
          <p:cNvSpPr/>
          <p:nvPr/>
        </p:nvSpPr>
        <p:spPr>
          <a:xfrm>
            <a:off x="5120640" y="4937760"/>
            <a:ext cx="3154680" cy="786384"/>
          </a:xfrm>
          <a:prstGeom prst="roundRect">
            <a:avLst>
              <a:gd name="adj" fmla="val 11628"/>
            </a:avLst>
          </a:prstGeom>
          <a:solidFill>
            <a:srgbClr val="E2F2EF"/>
          </a:solidFill>
          <a:ln/>
        </p:spPr>
      </p:sp>
      <p:sp>
        <p:nvSpPr>
          <p:cNvPr id="29" name="Shape 26"/>
          <p:cNvSpPr/>
          <p:nvPr/>
        </p:nvSpPr>
        <p:spPr>
          <a:xfrm>
            <a:off x="5257800" y="5102352"/>
            <a:ext cx="457200" cy="457200"/>
          </a:xfrm>
          <a:prstGeom prst="ellipse">
            <a:avLst/>
          </a:prstGeom>
          <a:solidFill>
            <a:srgbClr val="0F8B78"/>
          </a:solidFill>
          <a:ln/>
        </p:spPr>
      </p:sp>
      <p:sp>
        <p:nvSpPr>
          <p:cNvPr id="30" name="Text 27"/>
          <p:cNvSpPr txBox="1"/>
          <p:nvPr/>
        </p:nvSpPr>
        <p:spPr>
          <a:xfrm>
            <a:off x="5257800" y="5102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8"/>
          <p:cNvSpPr txBox="1"/>
          <p:nvPr/>
        </p:nvSpPr>
        <p:spPr>
          <a:xfrm>
            <a:off x="5833872" y="49651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Personal coping-plan builder</a:t>
            </a:r>
            <a:endParaRPr lang="en-US" sz="1400" dirty="0"/>
          </a:p>
        </p:txBody>
      </p:sp>
      <p:sp>
        <p:nvSpPr>
          <p:cNvPr id="32" name="Shape 29"/>
          <p:cNvSpPr/>
          <p:nvPr/>
        </p:nvSpPr>
        <p:spPr>
          <a:xfrm>
            <a:off x="8577072" y="1280160"/>
            <a:ext cx="3154680" cy="786384"/>
          </a:xfrm>
          <a:prstGeom prst="roundRect">
            <a:avLst>
              <a:gd name="adj" fmla="val 11628"/>
            </a:avLst>
          </a:prstGeom>
          <a:solidFill>
            <a:srgbClr val="E2F2EF"/>
          </a:solidFill>
          <a:ln/>
        </p:spPr>
      </p:sp>
      <p:sp>
        <p:nvSpPr>
          <p:cNvPr id="33" name="Shape 30"/>
          <p:cNvSpPr/>
          <p:nvPr/>
        </p:nvSpPr>
        <p:spPr>
          <a:xfrm>
            <a:off x="8714232" y="1444752"/>
            <a:ext cx="457200" cy="457200"/>
          </a:xfrm>
          <a:prstGeom prst="ellipse">
            <a:avLst/>
          </a:prstGeom>
          <a:solidFill>
            <a:srgbClr val="0F8B78"/>
          </a:solidFill>
          <a:ln/>
        </p:spPr>
      </p:sp>
      <p:sp>
        <p:nvSpPr>
          <p:cNvPr id="34" name="Text 31"/>
          <p:cNvSpPr txBox="1"/>
          <p:nvPr/>
        </p:nvSpPr>
        <p:spPr>
          <a:xfrm>
            <a:off x="8714232" y="1444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5" name="Text 32"/>
          <p:cNvSpPr txBox="1"/>
          <p:nvPr/>
        </p:nvSpPr>
        <p:spPr>
          <a:xfrm>
            <a:off x="9290304" y="13075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Verified support-resource shortcuts</a:t>
            </a:r>
            <a:endParaRPr lang="en-US" sz="1400" dirty="0"/>
          </a:p>
        </p:txBody>
      </p:sp>
      <p:sp>
        <p:nvSpPr>
          <p:cNvPr id="36" name="Shape 33"/>
          <p:cNvSpPr/>
          <p:nvPr/>
        </p:nvSpPr>
        <p:spPr>
          <a:xfrm>
            <a:off x="8577072" y="2194560"/>
            <a:ext cx="3154680" cy="786384"/>
          </a:xfrm>
          <a:prstGeom prst="roundRect">
            <a:avLst>
              <a:gd name="adj" fmla="val 11628"/>
            </a:avLst>
          </a:prstGeom>
          <a:solidFill>
            <a:srgbClr val="E2F2EF"/>
          </a:solidFill>
          <a:ln/>
        </p:spPr>
      </p:sp>
      <p:sp>
        <p:nvSpPr>
          <p:cNvPr id="37" name="Shape 34"/>
          <p:cNvSpPr/>
          <p:nvPr/>
        </p:nvSpPr>
        <p:spPr>
          <a:xfrm>
            <a:off x="8714232" y="2359152"/>
            <a:ext cx="457200" cy="457200"/>
          </a:xfrm>
          <a:prstGeom prst="ellipse">
            <a:avLst/>
          </a:prstGeom>
          <a:solidFill>
            <a:srgbClr val="0F8B78"/>
          </a:solidFill>
          <a:ln/>
        </p:spPr>
      </p:sp>
      <p:sp>
        <p:nvSpPr>
          <p:cNvPr id="38" name="Text 35"/>
          <p:cNvSpPr txBox="1"/>
          <p:nvPr/>
        </p:nvSpPr>
        <p:spPr>
          <a:xfrm>
            <a:off x="8714232" y="23591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9" name="Text 36"/>
          <p:cNvSpPr txBox="1"/>
          <p:nvPr/>
        </p:nvSpPr>
        <p:spPr>
          <a:xfrm>
            <a:off x="9290304" y="22219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Optional trusted-contact or support-plan feature</a:t>
            </a:r>
            <a:endParaRPr lang="en-US" sz="1400" dirty="0"/>
          </a:p>
        </p:txBody>
      </p:sp>
      <p:sp>
        <p:nvSpPr>
          <p:cNvPr id="40" name="Shape 37"/>
          <p:cNvSpPr/>
          <p:nvPr/>
        </p:nvSpPr>
        <p:spPr>
          <a:xfrm>
            <a:off x="8577072" y="3108960"/>
            <a:ext cx="3154680" cy="786384"/>
          </a:xfrm>
          <a:prstGeom prst="roundRect">
            <a:avLst>
              <a:gd name="adj" fmla="val 11628"/>
            </a:avLst>
          </a:prstGeom>
          <a:solidFill>
            <a:srgbClr val="E2F2EF"/>
          </a:solidFill>
          <a:ln/>
        </p:spPr>
      </p:sp>
      <p:sp>
        <p:nvSpPr>
          <p:cNvPr id="41" name="Shape 38"/>
          <p:cNvSpPr/>
          <p:nvPr/>
        </p:nvSpPr>
        <p:spPr>
          <a:xfrm>
            <a:off x="8714232" y="3273552"/>
            <a:ext cx="457200" cy="457200"/>
          </a:xfrm>
          <a:prstGeom prst="ellipse">
            <a:avLst/>
          </a:prstGeom>
          <a:solidFill>
            <a:srgbClr val="0F8B78"/>
          </a:solidFill>
          <a:ln/>
        </p:spPr>
      </p:sp>
      <p:sp>
        <p:nvSpPr>
          <p:cNvPr id="42" name="Text 39"/>
          <p:cNvSpPr txBox="1"/>
          <p:nvPr/>
        </p:nvSpPr>
        <p:spPr>
          <a:xfrm>
            <a:off x="8714232" y="3273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3" name="Text 40"/>
          <p:cNvSpPr txBox="1"/>
          <p:nvPr/>
        </p:nvSpPr>
        <p:spPr>
          <a:xfrm>
            <a:off x="9290304" y="31363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Relapse-sensitive and non-judgmental messaging</a:t>
            </a:r>
            <a:endParaRPr lang="en-US" sz="1400" dirty="0"/>
          </a:p>
        </p:txBody>
      </p:sp>
      <p:sp>
        <p:nvSpPr>
          <p:cNvPr id="44" name="Shape 41"/>
          <p:cNvSpPr/>
          <p:nvPr/>
        </p:nvSpPr>
        <p:spPr>
          <a:xfrm>
            <a:off x="8577072" y="4023360"/>
            <a:ext cx="3154680" cy="786384"/>
          </a:xfrm>
          <a:prstGeom prst="roundRect">
            <a:avLst>
              <a:gd name="adj" fmla="val 11628"/>
            </a:avLst>
          </a:prstGeom>
          <a:solidFill>
            <a:srgbClr val="E2F2EF"/>
          </a:solidFill>
          <a:ln/>
        </p:spPr>
      </p:sp>
      <p:sp>
        <p:nvSpPr>
          <p:cNvPr id="45" name="Shape 42"/>
          <p:cNvSpPr/>
          <p:nvPr/>
        </p:nvSpPr>
        <p:spPr>
          <a:xfrm>
            <a:off x="8714232" y="4187952"/>
            <a:ext cx="457200" cy="457200"/>
          </a:xfrm>
          <a:prstGeom prst="ellipse">
            <a:avLst/>
          </a:prstGeom>
          <a:solidFill>
            <a:srgbClr val="0F8B78"/>
          </a:solidFill>
          <a:ln/>
        </p:spPr>
      </p:sp>
      <p:sp>
        <p:nvSpPr>
          <p:cNvPr id="46" name="Text 43"/>
          <p:cNvSpPr txBox="1"/>
          <p:nvPr/>
        </p:nvSpPr>
        <p:spPr>
          <a:xfrm>
            <a:off x="8714232" y="41879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7" name="Text 44"/>
          <p:cNvSpPr txBox="1"/>
          <p:nvPr/>
        </p:nvSpPr>
        <p:spPr>
          <a:xfrm>
            <a:off x="9290304" y="40507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Emergency help pathway and crisis-support links</a:t>
            </a:r>
            <a:endParaRPr lang="en-US" sz="1400" dirty="0"/>
          </a:p>
        </p:txBody>
      </p:sp>
      <p:sp>
        <p:nvSpPr>
          <p:cNvPr id="48" name="Shape 45"/>
          <p:cNvSpPr/>
          <p:nvPr/>
        </p:nvSpPr>
        <p:spPr>
          <a:xfrm>
            <a:off x="8577072" y="4937760"/>
            <a:ext cx="3154680" cy="786384"/>
          </a:xfrm>
          <a:prstGeom prst="roundRect">
            <a:avLst>
              <a:gd name="adj" fmla="val 11628"/>
            </a:avLst>
          </a:prstGeom>
          <a:solidFill>
            <a:srgbClr val="E2F2EF"/>
          </a:solidFill>
          <a:ln/>
        </p:spPr>
      </p:sp>
      <p:sp>
        <p:nvSpPr>
          <p:cNvPr id="49" name="Shape 46"/>
          <p:cNvSpPr/>
          <p:nvPr/>
        </p:nvSpPr>
        <p:spPr>
          <a:xfrm>
            <a:off x="8714232" y="5102352"/>
            <a:ext cx="457200" cy="457200"/>
          </a:xfrm>
          <a:prstGeom prst="ellipse">
            <a:avLst/>
          </a:prstGeom>
          <a:solidFill>
            <a:srgbClr val="0F8B78"/>
          </a:solidFill>
          <a:ln/>
        </p:spPr>
      </p:sp>
      <p:sp>
        <p:nvSpPr>
          <p:cNvPr id="50" name="Text 47"/>
          <p:cNvSpPr txBox="1"/>
          <p:nvPr/>
        </p:nvSpPr>
        <p:spPr>
          <a:xfrm>
            <a:off x="8714232" y="5102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51" name="Text 48"/>
          <p:cNvSpPr txBox="1"/>
          <p:nvPr/>
        </p:nvSpPr>
        <p:spPr>
          <a:xfrm>
            <a:off x="9290304" y="49651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Privacy settings, data export, and complete data-deletion option</a:t>
            </a:r>
            <a:endParaRPr lang="en-US" sz="1400" dirty="0"/>
          </a:p>
        </p:txBody>
      </p:sp>
      <p:sp>
        <p:nvSpPr>
          <p:cNvPr id="52" name="Text 49"/>
          <p:cNvSpPr txBox="1"/>
          <p:nvPr/>
        </p:nvSpPr>
        <p:spPr>
          <a:xfrm>
            <a:off x="5120640" y="6355080"/>
            <a:ext cx="658368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BYTEQUEST|  Clear Mind. Clean Code.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9"/>
        </a:solidFill>
        <a:effectLst/>
      </p:bgPr>
    </p:bg>
    <p:spTree>
      <p:nvGrpSpPr>
        <p:cNvPr id="1" name=""/>
        <p:cNvGrpSpPr/>
        <p:nvPr/>
      </p:nvGrpSpPr>
      <p:grpSpPr>
        <a:xfrm>
          <a:off x="0" y="0"/>
          <a:ext cx="0" cy="0"/>
          <a:chOff x="0" y="0"/>
          <a:chExt cx="0" cy="0"/>
        </a:xfrm>
      </p:grpSpPr>
      <p:sp>
        <p:nvSpPr>
          <p:cNvPr id="2" name="Shape 0"/>
          <p:cNvSpPr/>
          <p:nvPr/>
        </p:nvSpPr>
        <p:spPr>
          <a:xfrm>
            <a:off x="0" y="0"/>
            <a:ext cx="4572000" cy="6858000"/>
          </a:xfrm>
          <a:prstGeom prst="rect">
            <a:avLst/>
          </a:prstGeom>
          <a:solidFill>
            <a:srgbClr val="0E2A35"/>
          </a:solidFill>
          <a:ln/>
        </p:spPr>
      </p:sp>
      <p:sp>
        <p:nvSpPr>
          <p:cNvPr id="3" name="Shape 1"/>
          <p:cNvSpPr/>
          <p:nvPr/>
        </p:nvSpPr>
        <p:spPr>
          <a:xfrm>
            <a:off x="457200" y="457200"/>
            <a:ext cx="502920" cy="502920"/>
          </a:xfrm>
          <a:prstGeom prst="ellipse">
            <a:avLst/>
          </a:prstGeom>
          <a:solidFill>
            <a:srgbClr val="6A5ACD"/>
          </a:solidFill>
          <a:ln/>
        </p:spPr>
      </p:sp>
      <p:pic>
        <p:nvPicPr>
          <p:cNvPr id="4" name="Image 0" descr="preencoded.png"/>
          <p:cNvPicPr>
            <a:picLocks noChangeAspect="1"/>
          </p:cNvPicPr>
          <p:nvPr/>
        </p:nvPicPr>
        <p:blipFill>
          <a:blip r:embed="rId3"/>
          <a:stretch>
            <a:fillRect/>
          </a:stretch>
        </p:blipFill>
        <p:spPr>
          <a:xfrm>
            <a:off x="576072" y="576072"/>
            <a:ext cx="265176" cy="265176"/>
          </a:xfrm>
          <a:prstGeom prst="rect">
            <a:avLst/>
          </a:prstGeom>
        </p:spPr>
      </p:pic>
      <p:sp>
        <p:nvSpPr>
          <p:cNvPr id="5" name="Text 2"/>
          <p:cNvSpPr txBox="1"/>
          <p:nvPr/>
        </p:nvSpPr>
        <p:spPr>
          <a:xfrm>
            <a:off x="1143000" y="457200"/>
            <a:ext cx="3017520" cy="502920"/>
          </a:xfrm>
          <a:prstGeom prst="rect">
            <a:avLst/>
          </a:prstGeom>
          <a:noFill/>
          <a:ln/>
        </p:spPr>
        <p:txBody>
          <a:bodyPr wrap="square" lIns="0" tIns="0" rIns="0" bIns="0" rtlCol="0" anchor="ctr"/>
          <a:lstStyle/>
          <a:p>
            <a:pPr marL="0" indent="0">
              <a:buNone/>
            </a:pPr>
            <a:r>
              <a:rPr lang="en-US" sz="1400" b="1" kern="0" spc="300" dirty="0">
                <a:solidFill>
                  <a:srgbClr val="7FD6C8"/>
                </a:solidFill>
                <a:latin typeface="Calibri" pitchFamily="34" charset="0"/>
                <a:ea typeface="Calibri" pitchFamily="34" charset="-122"/>
                <a:cs typeface="Calibri" pitchFamily="34" charset="-120"/>
              </a:rPr>
              <a:t>PROBLEM 06</a:t>
            </a:r>
            <a:endParaRPr lang="en-US" sz="1400" dirty="0"/>
          </a:p>
        </p:txBody>
      </p:sp>
      <p:sp>
        <p:nvSpPr>
          <p:cNvPr id="6" name="Text 3"/>
          <p:cNvSpPr txBox="1"/>
          <p:nvPr/>
        </p:nvSpPr>
        <p:spPr>
          <a:xfrm>
            <a:off x="457200" y="1188720"/>
            <a:ext cx="3657600" cy="457200"/>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MindQuest</a:t>
            </a:r>
            <a:endParaRPr lang="en-US" sz="2600" dirty="0"/>
          </a:p>
        </p:txBody>
      </p:sp>
      <p:sp>
        <p:nvSpPr>
          <p:cNvPr id="7" name="Text 4"/>
          <p:cNvSpPr txBox="1"/>
          <p:nvPr/>
        </p:nvSpPr>
        <p:spPr>
          <a:xfrm>
            <a:off x="457200" y="1664208"/>
            <a:ext cx="3657600" cy="365760"/>
          </a:xfrm>
          <a:prstGeom prst="rect">
            <a:avLst/>
          </a:prstGeom>
          <a:noFill/>
          <a:ln/>
        </p:spPr>
        <p:txBody>
          <a:bodyPr wrap="square" lIns="0" tIns="0" rIns="0" bIns="0" rtlCol="0" anchor="t"/>
          <a:lstStyle/>
          <a:p>
            <a:pPr marL="0" indent="0">
              <a:buNone/>
            </a:pPr>
            <a:r>
              <a:rPr lang="en-US" sz="1600" dirty="0">
                <a:solidFill>
                  <a:srgbClr val="C9D8DE"/>
                </a:solidFill>
                <a:latin typeface="Calibri" pitchFamily="34" charset="0"/>
                <a:ea typeface="Calibri" pitchFamily="34" charset="-122"/>
                <a:cs typeface="Calibri" pitchFamily="34" charset="-120"/>
              </a:rPr>
              <a:t>Campus Wellness Challenge</a:t>
            </a:r>
            <a:endParaRPr lang="en-US" sz="1600" dirty="0"/>
          </a:p>
        </p:txBody>
      </p:sp>
      <p:sp>
        <p:nvSpPr>
          <p:cNvPr id="8" name="Shape 5"/>
          <p:cNvSpPr/>
          <p:nvPr/>
        </p:nvSpPr>
        <p:spPr>
          <a:xfrm>
            <a:off x="457200" y="2194560"/>
            <a:ext cx="3090672" cy="347472"/>
          </a:xfrm>
          <a:prstGeom prst="roundRect">
            <a:avLst>
              <a:gd name="adj" fmla="val 50000"/>
            </a:avLst>
          </a:prstGeom>
          <a:solidFill>
            <a:srgbClr val="6A5ACD"/>
          </a:solidFill>
          <a:ln/>
        </p:spPr>
      </p:sp>
      <p:sp>
        <p:nvSpPr>
          <p:cNvPr id="9" name="Text 6"/>
          <p:cNvSpPr txBox="1"/>
          <p:nvPr/>
        </p:nvSpPr>
        <p:spPr>
          <a:xfrm>
            <a:off x="457200" y="2194560"/>
            <a:ext cx="30906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Track B  ·  Tech for Mental Wellness</a:t>
            </a:r>
            <a:endParaRPr lang="en-US" sz="1200" dirty="0"/>
          </a:p>
        </p:txBody>
      </p:sp>
      <p:sp>
        <p:nvSpPr>
          <p:cNvPr id="10" name="Text 7"/>
          <p:cNvSpPr txBox="1"/>
          <p:nvPr/>
        </p:nvSpPr>
        <p:spPr>
          <a:xfrm>
            <a:off x="457200" y="2788920"/>
            <a:ext cx="3657600" cy="274320"/>
          </a:xfrm>
          <a:prstGeom prst="rect">
            <a:avLst/>
          </a:prstGeom>
          <a:noFill/>
          <a:ln/>
        </p:spPr>
        <p:txBody>
          <a:bodyPr wrap="square" lIns="0" tIns="0" rIns="0" bIns="0" rtlCol="0" anchor="ctr"/>
          <a:lstStyle/>
          <a:p>
            <a:pPr marL="0" indent="0">
              <a:buNone/>
            </a:pPr>
            <a:r>
              <a:rPr lang="en-US" sz="1200" b="1" kern="0" spc="300" dirty="0">
                <a:solidFill>
                  <a:srgbClr val="7FD6C8"/>
                </a:solidFill>
                <a:latin typeface="Calibri" pitchFamily="34" charset="0"/>
                <a:ea typeface="Calibri" pitchFamily="34" charset="-122"/>
                <a:cs typeface="Calibri" pitchFamily="34" charset="-120"/>
              </a:rPr>
              <a:t>THE CHALLENGE</a:t>
            </a:r>
            <a:endParaRPr lang="en-US" sz="1200" dirty="0"/>
          </a:p>
        </p:txBody>
      </p:sp>
      <p:sp>
        <p:nvSpPr>
          <p:cNvPr id="11" name="Text 8"/>
          <p:cNvSpPr txBox="1"/>
          <p:nvPr/>
        </p:nvSpPr>
        <p:spPr>
          <a:xfrm>
            <a:off x="457200" y="3108960"/>
            <a:ext cx="3657600" cy="3383280"/>
          </a:xfrm>
          <a:prstGeom prst="rect">
            <a:avLst/>
          </a:prstGeom>
          <a:noFill/>
          <a:ln/>
        </p:spPr>
        <p:txBody>
          <a:bodyPr wrap="square" lIns="0" tIns="0" rIns="0" bIns="0" rtlCol="0" anchor="t"/>
          <a:lstStyle/>
          <a:p>
            <a:pPr marL="0" indent="0">
              <a:buNone/>
            </a:pPr>
            <a:r>
              <a:rPr lang="en-US" sz="1300" dirty="0">
                <a:solidFill>
                  <a:srgbClr val="E6EEF1"/>
                </a:solidFill>
                <a:latin typeface="Calibri" pitchFamily="34" charset="0"/>
                <a:ea typeface="Calibri" pitchFamily="34" charset="-122"/>
                <a:cs typeface="Calibri" pitchFamily="34" charset="-120"/>
              </a:rPr>
              <a:t>Students may understand that mental wellbeing is important but may not know how to practise healthy coping strategies, seek support, or respond to common campus stressors. A scenario-based learning platform can make wellbeing education more approachable and interactive. Build a structured wellness learning experience using short scenarios, reflection activities, practical exercises, and resource links. The platform should encourage learning and self-reflection rather than competition or clinical assessment.</a:t>
            </a:r>
            <a:endParaRPr lang="en-US" sz="1300" dirty="0"/>
          </a:p>
        </p:txBody>
      </p:sp>
      <p:sp>
        <p:nvSpPr>
          <p:cNvPr id="12" name="Text 9"/>
          <p:cNvSpPr txBox="1"/>
          <p:nvPr/>
        </p:nvSpPr>
        <p:spPr>
          <a:xfrm>
            <a:off x="5120640" y="457200"/>
            <a:ext cx="6400800" cy="548640"/>
          </a:xfrm>
          <a:prstGeom prst="rect">
            <a:avLst/>
          </a:prstGeom>
          <a:noFill/>
          <a:ln/>
        </p:spPr>
        <p:txBody>
          <a:bodyPr wrap="square" lIns="0" tIns="0" rIns="0" bIns="0" rtlCol="0" anchor="ctr"/>
          <a:lstStyle/>
          <a:p>
            <a:pPr marL="0" indent="0">
              <a:buNone/>
            </a:pPr>
            <a:r>
              <a:rPr lang="en-US" sz="2600" b="1" dirty="0">
                <a:solidFill>
                  <a:srgbClr val="0E2A35"/>
                </a:solidFill>
                <a:latin typeface="Cambria" pitchFamily="34" charset="0"/>
                <a:ea typeface="Cambria" pitchFamily="34" charset="-122"/>
                <a:cs typeface="Cambria" pitchFamily="34" charset="-120"/>
              </a:rPr>
              <a:t>10 Required Deliverables</a:t>
            </a:r>
            <a:endParaRPr lang="en-US" sz="2600" dirty="0"/>
          </a:p>
        </p:txBody>
      </p:sp>
      <p:sp>
        <p:nvSpPr>
          <p:cNvPr id="13" name="Shape 10"/>
          <p:cNvSpPr/>
          <p:nvPr/>
        </p:nvSpPr>
        <p:spPr>
          <a:xfrm>
            <a:off x="5120640" y="1280160"/>
            <a:ext cx="3154680" cy="786384"/>
          </a:xfrm>
          <a:prstGeom prst="roundRect">
            <a:avLst>
              <a:gd name="adj" fmla="val 11628"/>
            </a:avLst>
          </a:prstGeom>
          <a:solidFill>
            <a:srgbClr val="EBE9FA"/>
          </a:solidFill>
          <a:ln/>
        </p:spPr>
      </p:sp>
      <p:sp>
        <p:nvSpPr>
          <p:cNvPr id="14" name="Shape 11"/>
          <p:cNvSpPr/>
          <p:nvPr/>
        </p:nvSpPr>
        <p:spPr>
          <a:xfrm>
            <a:off x="5257800" y="1444752"/>
            <a:ext cx="457200" cy="457200"/>
          </a:xfrm>
          <a:prstGeom prst="ellipse">
            <a:avLst/>
          </a:prstGeom>
          <a:solidFill>
            <a:srgbClr val="6A5ACD"/>
          </a:solidFill>
          <a:ln/>
        </p:spPr>
      </p:sp>
      <p:sp>
        <p:nvSpPr>
          <p:cNvPr id="15" name="Text 12"/>
          <p:cNvSpPr txBox="1"/>
          <p:nvPr/>
        </p:nvSpPr>
        <p:spPr>
          <a:xfrm>
            <a:off x="5257800" y="1444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6" name="Text 13"/>
          <p:cNvSpPr txBox="1"/>
          <p:nvPr/>
        </p:nvSpPr>
        <p:spPr>
          <a:xfrm>
            <a:off x="5833872" y="13075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Scenario-based wellbeing activities</a:t>
            </a:r>
            <a:endParaRPr lang="en-US" sz="1400" dirty="0"/>
          </a:p>
        </p:txBody>
      </p:sp>
      <p:sp>
        <p:nvSpPr>
          <p:cNvPr id="17" name="Shape 14"/>
          <p:cNvSpPr/>
          <p:nvPr/>
        </p:nvSpPr>
        <p:spPr>
          <a:xfrm>
            <a:off x="5120640" y="2194560"/>
            <a:ext cx="3154680" cy="786384"/>
          </a:xfrm>
          <a:prstGeom prst="roundRect">
            <a:avLst>
              <a:gd name="adj" fmla="val 11628"/>
            </a:avLst>
          </a:prstGeom>
          <a:solidFill>
            <a:srgbClr val="EBE9FA"/>
          </a:solidFill>
          <a:ln/>
        </p:spPr>
      </p:sp>
      <p:sp>
        <p:nvSpPr>
          <p:cNvPr id="18" name="Shape 15"/>
          <p:cNvSpPr/>
          <p:nvPr/>
        </p:nvSpPr>
        <p:spPr>
          <a:xfrm>
            <a:off x="5257800" y="2359152"/>
            <a:ext cx="457200" cy="457200"/>
          </a:xfrm>
          <a:prstGeom prst="ellipse">
            <a:avLst/>
          </a:prstGeom>
          <a:solidFill>
            <a:srgbClr val="6A5ACD"/>
          </a:solidFill>
          <a:ln/>
        </p:spPr>
      </p:sp>
      <p:sp>
        <p:nvSpPr>
          <p:cNvPr id="19" name="Text 16"/>
          <p:cNvSpPr txBox="1"/>
          <p:nvPr/>
        </p:nvSpPr>
        <p:spPr>
          <a:xfrm>
            <a:off x="5257800" y="23591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0" name="Text 17"/>
          <p:cNvSpPr txBox="1"/>
          <p:nvPr/>
        </p:nvSpPr>
        <p:spPr>
          <a:xfrm>
            <a:off x="5833872" y="22219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Short evidence-informed learning modules</a:t>
            </a:r>
            <a:endParaRPr lang="en-US" sz="1400" dirty="0"/>
          </a:p>
        </p:txBody>
      </p:sp>
      <p:sp>
        <p:nvSpPr>
          <p:cNvPr id="21" name="Shape 18"/>
          <p:cNvSpPr/>
          <p:nvPr/>
        </p:nvSpPr>
        <p:spPr>
          <a:xfrm>
            <a:off x="5120640" y="3108960"/>
            <a:ext cx="3154680" cy="786384"/>
          </a:xfrm>
          <a:prstGeom prst="roundRect">
            <a:avLst>
              <a:gd name="adj" fmla="val 11628"/>
            </a:avLst>
          </a:prstGeom>
          <a:solidFill>
            <a:srgbClr val="EBE9FA"/>
          </a:solidFill>
          <a:ln/>
        </p:spPr>
      </p:sp>
      <p:sp>
        <p:nvSpPr>
          <p:cNvPr id="22" name="Shape 19"/>
          <p:cNvSpPr/>
          <p:nvPr/>
        </p:nvSpPr>
        <p:spPr>
          <a:xfrm>
            <a:off x="5257800" y="3273552"/>
            <a:ext cx="457200" cy="457200"/>
          </a:xfrm>
          <a:prstGeom prst="ellipse">
            <a:avLst/>
          </a:prstGeom>
          <a:solidFill>
            <a:srgbClr val="6A5ACD"/>
          </a:solidFill>
          <a:ln/>
        </p:spPr>
      </p:sp>
      <p:sp>
        <p:nvSpPr>
          <p:cNvPr id="23" name="Text 20"/>
          <p:cNvSpPr txBox="1"/>
          <p:nvPr/>
        </p:nvSpPr>
        <p:spPr>
          <a:xfrm>
            <a:off x="5257800" y="3273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4" name="Text 21"/>
          <p:cNvSpPr txBox="1"/>
          <p:nvPr/>
        </p:nvSpPr>
        <p:spPr>
          <a:xfrm>
            <a:off x="5833872" y="31363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Daily wellbeing task or activity selection</a:t>
            </a:r>
            <a:endParaRPr lang="en-US" sz="1400" dirty="0"/>
          </a:p>
        </p:txBody>
      </p:sp>
      <p:sp>
        <p:nvSpPr>
          <p:cNvPr id="25" name="Shape 22"/>
          <p:cNvSpPr/>
          <p:nvPr/>
        </p:nvSpPr>
        <p:spPr>
          <a:xfrm>
            <a:off x="5120640" y="4023360"/>
            <a:ext cx="3154680" cy="786384"/>
          </a:xfrm>
          <a:prstGeom prst="roundRect">
            <a:avLst>
              <a:gd name="adj" fmla="val 11628"/>
            </a:avLst>
          </a:prstGeom>
          <a:solidFill>
            <a:srgbClr val="EBE9FA"/>
          </a:solidFill>
          <a:ln/>
        </p:spPr>
      </p:sp>
      <p:sp>
        <p:nvSpPr>
          <p:cNvPr id="26" name="Shape 23"/>
          <p:cNvSpPr/>
          <p:nvPr/>
        </p:nvSpPr>
        <p:spPr>
          <a:xfrm>
            <a:off x="5257800" y="4187952"/>
            <a:ext cx="457200" cy="457200"/>
          </a:xfrm>
          <a:prstGeom prst="ellipse">
            <a:avLst/>
          </a:prstGeom>
          <a:solidFill>
            <a:srgbClr val="6A5ACD"/>
          </a:solidFill>
          <a:ln/>
        </p:spPr>
      </p:sp>
      <p:sp>
        <p:nvSpPr>
          <p:cNvPr id="27" name="Text 24"/>
          <p:cNvSpPr txBox="1"/>
          <p:nvPr/>
        </p:nvSpPr>
        <p:spPr>
          <a:xfrm>
            <a:off x="5257800" y="41879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8" name="Text 25"/>
          <p:cNvSpPr txBox="1"/>
          <p:nvPr/>
        </p:nvSpPr>
        <p:spPr>
          <a:xfrm>
            <a:off x="5833872" y="40507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Personal progress dashboard</a:t>
            </a:r>
            <a:endParaRPr lang="en-US" sz="1400" dirty="0"/>
          </a:p>
        </p:txBody>
      </p:sp>
      <p:sp>
        <p:nvSpPr>
          <p:cNvPr id="29" name="Shape 26"/>
          <p:cNvSpPr/>
          <p:nvPr/>
        </p:nvSpPr>
        <p:spPr>
          <a:xfrm>
            <a:off x="5120640" y="4937760"/>
            <a:ext cx="3154680" cy="786384"/>
          </a:xfrm>
          <a:prstGeom prst="roundRect">
            <a:avLst>
              <a:gd name="adj" fmla="val 11628"/>
            </a:avLst>
          </a:prstGeom>
          <a:solidFill>
            <a:srgbClr val="EBE9FA"/>
          </a:solidFill>
          <a:ln/>
        </p:spPr>
      </p:sp>
      <p:sp>
        <p:nvSpPr>
          <p:cNvPr id="30" name="Shape 27"/>
          <p:cNvSpPr/>
          <p:nvPr/>
        </p:nvSpPr>
        <p:spPr>
          <a:xfrm>
            <a:off x="5257800" y="5102352"/>
            <a:ext cx="457200" cy="457200"/>
          </a:xfrm>
          <a:prstGeom prst="ellipse">
            <a:avLst/>
          </a:prstGeom>
          <a:solidFill>
            <a:srgbClr val="6A5ACD"/>
          </a:solidFill>
          <a:ln/>
        </p:spPr>
      </p:sp>
      <p:sp>
        <p:nvSpPr>
          <p:cNvPr id="31" name="Text 28"/>
          <p:cNvSpPr txBox="1"/>
          <p:nvPr/>
        </p:nvSpPr>
        <p:spPr>
          <a:xfrm>
            <a:off x="5257800" y="5102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2" name="Text 29"/>
          <p:cNvSpPr txBox="1"/>
          <p:nvPr/>
        </p:nvSpPr>
        <p:spPr>
          <a:xfrm>
            <a:off x="5833872" y="49651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Reflection questions after each activity</a:t>
            </a:r>
            <a:endParaRPr lang="en-US" sz="1400" dirty="0"/>
          </a:p>
        </p:txBody>
      </p:sp>
      <p:sp>
        <p:nvSpPr>
          <p:cNvPr id="33" name="Shape 30"/>
          <p:cNvSpPr/>
          <p:nvPr/>
        </p:nvSpPr>
        <p:spPr>
          <a:xfrm>
            <a:off x="8577072" y="1280160"/>
            <a:ext cx="3154680" cy="786384"/>
          </a:xfrm>
          <a:prstGeom prst="roundRect">
            <a:avLst>
              <a:gd name="adj" fmla="val 11628"/>
            </a:avLst>
          </a:prstGeom>
          <a:solidFill>
            <a:srgbClr val="EBE9FA"/>
          </a:solidFill>
          <a:ln/>
        </p:spPr>
      </p:sp>
      <p:sp>
        <p:nvSpPr>
          <p:cNvPr id="34" name="Shape 31"/>
          <p:cNvSpPr/>
          <p:nvPr/>
        </p:nvSpPr>
        <p:spPr>
          <a:xfrm>
            <a:off x="8714232" y="1444752"/>
            <a:ext cx="457200" cy="457200"/>
          </a:xfrm>
          <a:prstGeom prst="ellipse">
            <a:avLst/>
          </a:prstGeom>
          <a:solidFill>
            <a:srgbClr val="6A5ACD"/>
          </a:solidFill>
          <a:ln/>
        </p:spPr>
      </p:sp>
      <p:sp>
        <p:nvSpPr>
          <p:cNvPr id="35" name="Text 32"/>
          <p:cNvSpPr txBox="1"/>
          <p:nvPr/>
        </p:nvSpPr>
        <p:spPr>
          <a:xfrm>
            <a:off x="8714232" y="1444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6" name="Text 33"/>
          <p:cNvSpPr txBox="1"/>
          <p:nvPr/>
        </p:nvSpPr>
        <p:spPr>
          <a:xfrm>
            <a:off x="9290304" y="13075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Stress-management and support-resource library</a:t>
            </a:r>
            <a:endParaRPr lang="en-US" sz="1400" dirty="0"/>
          </a:p>
        </p:txBody>
      </p:sp>
      <p:sp>
        <p:nvSpPr>
          <p:cNvPr id="37" name="Shape 34"/>
          <p:cNvSpPr/>
          <p:nvPr/>
        </p:nvSpPr>
        <p:spPr>
          <a:xfrm>
            <a:off x="8577072" y="2194560"/>
            <a:ext cx="3154680" cy="786384"/>
          </a:xfrm>
          <a:prstGeom prst="roundRect">
            <a:avLst>
              <a:gd name="adj" fmla="val 11628"/>
            </a:avLst>
          </a:prstGeom>
          <a:solidFill>
            <a:srgbClr val="EBE9FA"/>
          </a:solidFill>
          <a:ln/>
        </p:spPr>
      </p:sp>
      <p:sp>
        <p:nvSpPr>
          <p:cNvPr id="38" name="Shape 35"/>
          <p:cNvSpPr/>
          <p:nvPr/>
        </p:nvSpPr>
        <p:spPr>
          <a:xfrm>
            <a:off x="8714232" y="2359152"/>
            <a:ext cx="457200" cy="457200"/>
          </a:xfrm>
          <a:prstGeom prst="ellipse">
            <a:avLst/>
          </a:prstGeom>
          <a:solidFill>
            <a:srgbClr val="6A5ACD"/>
          </a:solidFill>
          <a:ln/>
        </p:spPr>
      </p:sp>
      <p:sp>
        <p:nvSpPr>
          <p:cNvPr id="39" name="Text 36"/>
          <p:cNvSpPr txBox="1"/>
          <p:nvPr/>
        </p:nvSpPr>
        <p:spPr>
          <a:xfrm>
            <a:off x="8714232" y="23591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0" name="Text 37"/>
          <p:cNvSpPr txBox="1"/>
          <p:nvPr/>
        </p:nvSpPr>
        <p:spPr>
          <a:xfrm>
            <a:off x="9290304" y="22219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Choice-based decision scenarios</a:t>
            </a:r>
            <a:endParaRPr lang="en-US" sz="1400" dirty="0"/>
          </a:p>
        </p:txBody>
      </p:sp>
      <p:sp>
        <p:nvSpPr>
          <p:cNvPr id="41" name="Shape 38"/>
          <p:cNvSpPr/>
          <p:nvPr/>
        </p:nvSpPr>
        <p:spPr>
          <a:xfrm>
            <a:off x="8577072" y="3108960"/>
            <a:ext cx="3154680" cy="786384"/>
          </a:xfrm>
          <a:prstGeom prst="roundRect">
            <a:avLst>
              <a:gd name="adj" fmla="val 11628"/>
            </a:avLst>
          </a:prstGeom>
          <a:solidFill>
            <a:srgbClr val="EBE9FA"/>
          </a:solidFill>
          <a:ln/>
        </p:spPr>
      </p:sp>
      <p:sp>
        <p:nvSpPr>
          <p:cNvPr id="42" name="Shape 39"/>
          <p:cNvSpPr/>
          <p:nvPr/>
        </p:nvSpPr>
        <p:spPr>
          <a:xfrm>
            <a:off x="8714232" y="3273552"/>
            <a:ext cx="457200" cy="457200"/>
          </a:xfrm>
          <a:prstGeom prst="ellipse">
            <a:avLst/>
          </a:prstGeom>
          <a:solidFill>
            <a:srgbClr val="6A5ACD"/>
          </a:solidFill>
          <a:ln/>
        </p:spPr>
      </p:sp>
      <p:sp>
        <p:nvSpPr>
          <p:cNvPr id="43" name="Text 40"/>
          <p:cNvSpPr txBox="1"/>
          <p:nvPr/>
        </p:nvSpPr>
        <p:spPr>
          <a:xfrm>
            <a:off x="8714232" y="3273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4" name="Text 41"/>
          <p:cNvSpPr txBox="1"/>
          <p:nvPr/>
        </p:nvSpPr>
        <p:spPr>
          <a:xfrm>
            <a:off x="9290304" y="31363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Accessibility features and low-literacy mode</a:t>
            </a:r>
            <a:endParaRPr lang="en-US" sz="1400" dirty="0"/>
          </a:p>
        </p:txBody>
      </p:sp>
      <p:sp>
        <p:nvSpPr>
          <p:cNvPr id="45" name="Shape 42"/>
          <p:cNvSpPr/>
          <p:nvPr/>
        </p:nvSpPr>
        <p:spPr>
          <a:xfrm>
            <a:off x="8577072" y="4023360"/>
            <a:ext cx="3154680" cy="786384"/>
          </a:xfrm>
          <a:prstGeom prst="roundRect">
            <a:avLst>
              <a:gd name="adj" fmla="val 11628"/>
            </a:avLst>
          </a:prstGeom>
          <a:solidFill>
            <a:srgbClr val="EBE9FA"/>
          </a:solidFill>
          <a:ln/>
        </p:spPr>
      </p:sp>
      <p:sp>
        <p:nvSpPr>
          <p:cNvPr id="46" name="Shape 43"/>
          <p:cNvSpPr/>
          <p:nvPr/>
        </p:nvSpPr>
        <p:spPr>
          <a:xfrm>
            <a:off x="8714232" y="4187952"/>
            <a:ext cx="457200" cy="457200"/>
          </a:xfrm>
          <a:prstGeom prst="ellipse">
            <a:avLst/>
          </a:prstGeom>
          <a:solidFill>
            <a:srgbClr val="6A5ACD"/>
          </a:solidFill>
          <a:ln/>
        </p:spPr>
      </p:sp>
      <p:sp>
        <p:nvSpPr>
          <p:cNvPr id="47" name="Text 44"/>
          <p:cNvSpPr txBox="1"/>
          <p:nvPr/>
        </p:nvSpPr>
        <p:spPr>
          <a:xfrm>
            <a:off x="8714232" y="41879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8" name="Text 45"/>
          <p:cNvSpPr txBox="1"/>
          <p:nvPr/>
        </p:nvSpPr>
        <p:spPr>
          <a:xfrm>
            <a:off x="9290304" y="40507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Non-competitive progress indicators</a:t>
            </a:r>
            <a:endParaRPr lang="en-US" sz="1400" dirty="0"/>
          </a:p>
        </p:txBody>
      </p:sp>
      <p:sp>
        <p:nvSpPr>
          <p:cNvPr id="49" name="Shape 46"/>
          <p:cNvSpPr/>
          <p:nvPr/>
        </p:nvSpPr>
        <p:spPr>
          <a:xfrm>
            <a:off x="8577072" y="4937760"/>
            <a:ext cx="3154680" cy="786384"/>
          </a:xfrm>
          <a:prstGeom prst="roundRect">
            <a:avLst>
              <a:gd name="adj" fmla="val 11628"/>
            </a:avLst>
          </a:prstGeom>
          <a:solidFill>
            <a:srgbClr val="EBE9FA"/>
          </a:solidFill>
          <a:ln/>
        </p:spPr>
      </p:sp>
      <p:sp>
        <p:nvSpPr>
          <p:cNvPr id="50" name="Shape 47"/>
          <p:cNvSpPr/>
          <p:nvPr/>
        </p:nvSpPr>
        <p:spPr>
          <a:xfrm>
            <a:off x="8714232" y="5102352"/>
            <a:ext cx="457200" cy="457200"/>
          </a:xfrm>
          <a:prstGeom prst="ellipse">
            <a:avLst/>
          </a:prstGeom>
          <a:solidFill>
            <a:srgbClr val="6A5ACD"/>
          </a:solidFill>
          <a:ln/>
        </p:spPr>
      </p:sp>
      <p:sp>
        <p:nvSpPr>
          <p:cNvPr id="51" name="Text 48"/>
          <p:cNvSpPr txBox="1"/>
          <p:nvPr/>
        </p:nvSpPr>
        <p:spPr>
          <a:xfrm>
            <a:off x="8714232" y="5102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52" name="Text 49"/>
          <p:cNvSpPr txBox="1"/>
          <p:nvPr/>
        </p:nvSpPr>
        <p:spPr>
          <a:xfrm>
            <a:off x="9290304" y="49651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Safety prompts, help-seeking guidance, and professional-support links</a:t>
            </a:r>
            <a:endParaRPr lang="en-US" sz="1400" dirty="0"/>
          </a:p>
        </p:txBody>
      </p:sp>
      <p:sp>
        <p:nvSpPr>
          <p:cNvPr id="53" name="Text 50"/>
          <p:cNvSpPr txBox="1"/>
          <p:nvPr/>
        </p:nvSpPr>
        <p:spPr>
          <a:xfrm>
            <a:off x="5120640" y="6355080"/>
            <a:ext cx="658368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BYTEQUEST|  Clear Mind. Clean Code.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9"/>
        </a:solidFill>
        <a:effectLst/>
      </p:bgPr>
    </p:bg>
    <p:spTree>
      <p:nvGrpSpPr>
        <p:cNvPr id="1" name=""/>
        <p:cNvGrpSpPr/>
        <p:nvPr/>
      </p:nvGrpSpPr>
      <p:grpSpPr>
        <a:xfrm>
          <a:off x="0" y="0"/>
          <a:ext cx="0" cy="0"/>
          <a:chOff x="0" y="0"/>
          <a:chExt cx="0" cy="0"/>
        </a:xfrm>
      </p:grpSpPr>
      <p:sp>
        <p:nvSpPr>
          <p:cNvPr id="2" name="Shape 0"/>
          <p:cNvSpPr/>
          <p:nvPr/>
        </p:nvSpPr>
        <p:spPr>
          <a:xfrm>
            <a:off x="0" y="0"/>
            <a:ext cx="4572000" cy="6858000"/>
          </a:xfrm>
          <a:prstGeom prst="rect">
            <a:avLst/>
          </a:prstGeom>
          <a:solidFill>
            <a:srgbClr val="0E2A35"/>
          </a:solidFill>
          <a:ln/>
        </p:spPr>
      </p:sp>
      <p:sp>
        <p:nvSpPr>
          <p:cNvPr id="3" name="Shape 1"/>
          <p:cNvSpPr/>
          <p:nvPr/>
        </p:nvSpPr>
        <p:spPr>
          <a:xfrm>
            <a:off x="457200" y="457200"/>
            <a:ext cx="502920" cy="502920"/>
          </a:xfrm>
          <a:prstGeom prst="ellipse">
            <a:avLst/>
          </a:prstGeom>
          <a:solidFill>
            <a:srgbClr val="C2620A"/>
          </a:solidFill>
          <a:ln/>
        </p:spPr>
      </p:sp>
      <p:pic>
        <p:nvPicPr>
          <p:cNvPr id="4" name="Image 0" descr="preencoded.png"/>
          <p:cNvPicPr>
            <a:picLocks noChangeAspect="1"/>
          </p:cNvPicPr>
          <p:nvPr/>
        </p:nvPicPr>
        <p:blipFill>
          <a:blip r:embed="rId3"/>
          <a:stretch>
            <a:fillRect/>
          </a:stretch>
        </p:blipFill>
        <p:spPr>
          <a:xfrm>
            <a:off x="576072" y="576072"/>
            <a:ext cx="265176" cy="265176"/>
          </a:xfrm>
          <a:prstGeom prst="rect">
            <a:avLst/>
          </a:prstGeom>
        </p:spPr>
      </p:pic>
      <p:sp>
        <p:nvSpPr>
          <p:cNvPr id="5" name="Text 2"/>
          <p:cNvSpPr txBox="1"/>
          <p:nvPr/>
        </p:nvSpPr>
        <p:spPr>
          <a:xfrm>
            <a:off x="1143000" y="457200"/>
            <a:ext cx="3017520" cy="502920"/>
          </a:xfrm>
          <a:prstGeom prst="rect">
            <a:avLst/>
          </a:prstGeom>
          <a:noFill/>
          <a:ln/>
        </p:spPr>
        <p:txBody>
          <a:bodyPr wrap="square" lIns="0" tIns="0" rIns="0" bIns="0" rtlCol="0" anchor="ctr"/>
          <a:lstStyle/>
          <a:p>
            <a:pPr marL="0" indent="0">
              <a:buNone/>
            </a:pPr>
            <a:r>
              <a:rPr lang="en-US" sz="1400" b="1" kern="0" spc="300" dirty="0">
                <a:solidFill>
                  <a:srgbClr val="7FD6C8"/>
                </a:solidFill>
                <a:latin typeface="Calibri" pitchFamily="34" charset="0"/>
                <a:ea typeface="Calibri" pitchFamily="34" charset="-122"/>
                <a:cs typeface="Calibri" pitchFamily="34" charset="-120"/>
              </a:rPr>
              <a:t>PROBLEM 07</a:t>
            </a:r>
            <a:endParaRPr lang="en-US" sz="1400" dirty="0"/>
          </a:p>
        </p:txBody>
      </p:sp>
      <p:sp>
        <p:nvSpPr>
          <p:cNvPr id="6" name="Text 3"/>
          <p:cNvSpPr txBox="1"/>
          <p:nvPr/>
        </p:nvSpPr>
        <p:spPr>
          <a:xfrm>
            <a:off x="457200" y="1188720"/>
            <a:ext cx="3657600" cy="457200"/>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Screen Survivor</a:t>
            </a:r>
            <a:endParaRPr lang="en-US" sz="2600" dirty="0"/>
          </a:p>
        </p:txBody>
      </p:sp>
      <p:sp>
        <p:nvSpPr>
          <p:cNvPr id="7" name="Text 4"/>
          <p:cNvSpPr txBox="1"/>
          <p:nvPr/>
        </p:nvSpPr>
        <p:spPr>
          <a:xfrm>
            <a:off x="457200" y="1664208"/>
            <a:ext cx="3657600" cy="365760"/>
          </a:xfrm>
          <a:prstGeom prst="rect">
            <a:avLst/>
          </a:prstGeom>
          <a:noFill/>
          <a:ln/>
        </p:spPr>
        <p:txBody>
          <a:bodyPr wrap="square" lIns="0" tIns="0" rIns="0" bIns="0" rtlCol="0" anchor="t"/>
          <a:lstStyle/>
          <a:p>
            <a:pPr marL="0" indent="0">
              <a:buNone/>
            </a:pPr>
            <a:r>
              <a:rPr lang="en-US" sz="1600" dirty="0">
                <a:solidFill>
                  <a:srgbClr val="C9D8DE"/>
                </a:solidFill>
                <a:latin typeface="Calibri" pitchFamily="34" charset="0"/>
                <a:ea typeface="Calibri" pitchFamily="34" charset="-122"/>
                <a:cs typeface="Calibri" pitchFamily="34" charset="-120"/>
              </a:rPr>
              <a:t>Attention Management System</a:t>
            </a:r>
            <a:endParaRPr lang="en-US" sz="1600" dirty="0"/>
          </a:p>
        </p:txBody>
      </p:sp>
      <p:sp>
        <p:nvSpPr>
          <p:cNvPr id="8" name="Shape 5"/>
          <p:cNvSpPr/>
          <p:nvPr/>
        </p:nvSpPr>
        <p:spPr>
          <a:xfrm>
            <a:off x="457200" y="2194560"/>
            <a:ext cx="3090672" cy="347472"/>
          </a:xfrm>
          <a:prstGeom prst="roundRect">
            <a:avLst>
              <a:gd name="adj" fmla="val 50000"/>
            </a:avLst>
          </a:prstGeom>
          <a:solidFill>
            <a:srgbClr val="C2620A"/>
          </a:solidFill>
          <a:ln/>
        </p:spPr>
      </p:sp>
      <p:sp>
        <p:nvSpPr>
          <p:cNvPr id="9" name="Text 6"/>
          <p:cNvSpPr txBox="1"/>
          <p:nvPr/>
        </p:nvSpPr>
        <p:spPr>
          <a:xfrm>
            <a:off x="457200" y="2194560"/>
            <a:ext cx="30906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Track C  ·  Tech for Digital Balance</a:t>
            </a:r>
            <a:endParaRPr lang="en-US" sz="1200" dirty="0"/>
          </a:p>
        </p:txBody>
      </p:sp>
      <p:sp>
        <p:nvSpPr>
          <p:cNvPr id="10" name="Text 7"/>
          <p:cNvSpPr txBox="1"/>
          <p:nvPr/>
        </p:nvSpPr>
        <p:spPr>
          <a:xfrm>
            <a:off x="457200" y="2788920"/>
            <a:ext cx="3657600" cy="274320"/>
          </a:xfrm>
          <a:prstGeom prst="rect">
            <a:avLst/>
          </a:prstGeom>
          <a:noFill/>
          <a:ln/>
        </p:spPr>
        <p:txBody>
          <a:bodyPr wrap="square" lIns="0" tIns="0" rIns="0" bIns="0" rtlCol="0" anchor="ctr"/>
          <a:lstStyle/>
          <a:p>
            <a:pPr marL="0" indent="0">
              <a:buNone/>
            </a:pPr>
            <a:r>
              <a:rPr lang="en-US" sz="1200" b="1" kern="0" spc="300" dirty="0">
                <a:solidFill>
                  <a:srgbClr val="7FD6C8"/>
                </a:solidFill>
                <a:latin typeface="Calibri" pitchFamily="34" charset="0"/>
                <a:ea typeface="Calibri" pitchFamily="34" charset="-122"/>
                <a:cs typeface="Calibri" pitchFamily="34" charset="-120"/>
              </a:rPr>
              <a:t>THE CHALLENGE</a:t>
            </a:r>
            <a:endParaRPr lang="en-US" sz="1200" dirty="0"/>
          </a:p>
        </p:txBody>
      </p:sp>
      <p:sp>
        <p:nvSpPr>
          <p:cNvPr id="11" name="Text 8"/>
          <p:cNvSpPr txBox="1"/>
          <p:nvPr/>
        </p:nvSpPr>
        <p:spPr>
          <a:xfrm>
            <a:off x="457200" y="3108960"/>
            <a:ext cx="3657600" cy="3383280"/>
          </a:xfrm>
          <a:prstGeom prst="rect">
            <a:avLst/>
          </a:prstGeom>
          <a:noFill/>
          <a:ln/>
        </p:spPr>
        <p:txBody>
          <a:bodyPr wrap="square" lIns="0" tIns="0" rIns="0" bIns="0" rtlCol="0" anchor="t"/>
          <a:lstStyle/>
          <a:p>
            <a:pPr marL="0" indent="0">
              <a:buNone/>
            </a:pPr>
            <a:r>
              <a:rPr lang="en-US" sz="1300" dirty="0">
                <a:solidFill>
                  <a:srgbClr val="E6EEF1"/>
                </a:solidFill>
                <a:latin typeface="Calibri" pitchFamily="34" charset="0"/>
                <a:ea typeface="Calibri" pitchFamily="34" charset="-122"/>
                <a:cs typeface="Calibri" pitchFamily="34" charset="-120"/>
              </a:rPr>
              <a:t>Digital distractions compete with study, rest, relationships, and personal goals. Students often find it difficult to understand how they allocate their limited attention across different activities. Develop an attention-management system based on a daily attention budget. Users should allocate attention points across study, social media, entertainment, rest, and other activities. The system should simulate trade-offs, record distractions, and generate transparent recommendations for improving digital balance.</a:t>
            </a:r>
            <a:endParaRPr lang="en-US" sz="1300" dirty="0"/>
          </a:p>
        </p:txBody>
      </p:sp>
      <p:sp>
        <p:nvSpPr>
          <p:cNvPr id="12" name="Text 9"/>
          <p:cNvSpPr txBox="1"/>
          <p:nvPr/>
        </p:nvSpPr>
        <p:spPr>
          <a:xfrm>
            <a:off x="5120640" y="457200"/>
            <a:ext cx="6400800" cy="548640"/>
          </a:xfrm>
          <a:prstGeom prst="rect">
            <a:avLst/>
          </a:prstGeom>
          <a:noFill/>
          <a:ln/>
        </p:spPr>
        <p:txBody>
          <a:bodyPr wrap="square" lIns="0" tIns="0" rIns="0" bIns="0" rtlCol="0" anchor="ctr"/>
          <a:lstStyle/>
          <a:p>
            <a:pPr marL="0" indent="0">
              <a:buNone/>
            </a:pPr>
            <a:r>
              <a:rPr lang="en-US" sz="2600" b="1" dirty="0">
                <a:solidFill>
                  <a:srgbClr val="0E2A35"/>
                </a:solidFill>
                <a:latin typeface="Cambria" pitchFamily="34" charset="0"/>
                <a:ea typeface="Cambria" pitchFamily="34" charset="-122"/>
                <a:cs typeface="Cambria" pitchFamily="34" charset="-120"/>
              </a:rPr>
              <a:t>10 Required Deliverables</a:t>
            </a:r>
            <a:endParaRPr lang="en-US" sz="2600" dirty="0"/>
          </a:p>
        </p:txBody>
      </p:sp>
      <p:sp>
        <p:nvSpPr>
          <p:cNvPr id="13" name="Shape 10"/>
          <p:cNvSpPr/>
          <p:nvPr/>
        </p:nvSpPr>
        <p:spPr>
          <a:xfrm>
            <a:off x="5120640" y="1280160"/>
            <a:ext cx="3154680" cy="786384"/>
          </a:xfrm>
          <a:prstGeom prst="roundRect">
            <a:avLst>
              <a:gd name="adj" fmla="val 11628"/>
            </a:avLst>
          </a:prstGeom>
          <a:solidFill>
            <a:srgbClr val="FBEBDC"/>
          </a:solidFill>
          <a:ln/>
        </p:spPr>
      </p:sp>
      <p:sp>
        <p:nvSpPr>
          <p:cNvPr id="14" name="Shape 11"/>
          <p:cNvSpPr/>
          <p:nvPr/>
        </p:nvSpPr>
        <p:spPr>
          <a:xfrm>
            <a:off x="5257800" y="1444752"/>
            <a:ext cx="457200" cy="457200"/>
          </a:xfrm>
          <a:prstGeom prst="ellipse">
            <a:avLst/>
          </a:prstGeom>
          <a:solidFill>
            <a:srgbClr val="C2620A"/>
          </a:solidFill>
          <a:ln/>
        </p:spPr>
      </p:sp>
      <p:sp>
        <p:nvSpPr>
          <p:cNvPr id="15" name="Text 12"/>
          <p:cNvSpPr txBox="1"/>
          <p:nvPr/>
        </p:nvSpPr>
        <p:spPr>
          <a:xfrm>
            <a:off x="5257800" y="1444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6" name="Text 13"/>
          <p:cNvSpPr txBox="1"/>
          <p:nvPr/>
        </p:nvSpPr>
        <p:spPr>
          <a:xfrm>
            <a:off x="5833872" y="13075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Daily attention-budget setup</a:t>
            </a:r>
            <a:endParaRPr lang="en-US" sz="1400" dirty="0"/>
          </a:p>
        </p:txBody>
      </p:sp>
      <p:sp>
        <p:nvSpPr>
          <p:cNvPr id="17" name="Shape 14"/>
          <p:cNvSpPr/>
          <p:nvPr/>
        </p:nvSpPr>
        <p:spPr>
          <a:xfrm>
            <a:off x="5120640" y="2194560"/>
            <a:ext cx="3154680" cy="786384"/>
          </a:xfrm>
          <a:prstGeom prst="roundRect">
            <a:avLst>
              <a:gd name="adj" fmla="val 11628"/>
            </a:avLst>
          </a:prstGeom>
          <a:solidFill>
            <a:srgbClr val="FBEBDC"/>
          </a:solidFill>
          <a:ln/>
        </p:spPr>
      </p:sp>
      <p:sp>
        <p:nvSpPr>
          <p:cNvPr id="18" name="Shape 15"/>
          <p:cNvSpPr/>
          <p:nvPr/>
        </p:nvSpPr>
        <p:spPr>
          <a:xfrm>
            <a:off x="5257800" y="2359152"/>
            <a:ext cx="457200" cy="457200"/>
          </a:xfrm>
          <a:prstGeom prst="ellipse">
            <a:avLst/>
          </a:prstGeom>
          <a:solidFill>
            <a:srgbClr val="C2620A"/>
          </a:solidFill>
          <a:ln/>
        </p:spPr>
      </p:sp>
      <p:sp>
        <p:nvSpPr>
          <p:cNvPr id="19" name="Text 16"/>
          <p:cNvSpPr txBox="1"/>
          <p:nvPr/>
        </p:nvSpPr>
        <p:spPr>
          <a:xfrm>
            <a:off x="5257800" y="23591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0" name="Text 17"/>
          <p:cNvSpPr txBox="1"/>
          <p:nvPr/>
        </p:nvSpPr>
        <p:spPr>
          <a:xfrm>
            <a:off x="5833872" y="22219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Allocation of attention points across different activities</a:t>
            </a:r>
            <a:endParaRPr lang="en-US" sz="1400" dirty="0"/>
          </a:p>
        </p:txBody>
      </p:sp>
      <p:sp>
        <p:nvSpPr>
          <p:cNvPr id="21" name="Shape 18"/>
          <p:cNvSpPr/>
          <p:nvPr/>
        </p:nvSpPr>
        <p:spPr>
          <a:xfrm>
            <a:off x="5120640" y="3108960"/>
            <a:ext cx="3154680" cy="786384"/>
          </a:xfrm>
          <a:prstGeom prst="roundRect">
            <a:avLst>
              <a:gd name="adj" fmla="val 11628"/>
            </a:avLst>
          </a:prstGeom>
          <a:solidFill>
            <a:srgbClr val="FBEBDC"/>
          </a:solidFill>
          <a:ln/>
        </p:spPr>
      </p:sp>
      <p:sp>
        <p:nvSpPr>
          <p:cNvPr id="22" name="Shape 19"/>
          <p:cNvSpPr/>
          <p:nvPr/>
        </p:nvSpPr>
        <p:spPr>
          <a:xfrm>
            <a:off x="5257800" y="3273552"/>
            <a:ext cx="457200" cy="457200"/>
          </a:xfrm>
          <a:prstGeom prst="ellipse">
            <a:avLst/>
          </a:prstGeom>
          <a:solidFill>
            <a:srgbClr val="C2620A"/>
          </a:solidFill>
          <a:ln/>
        </p:spPr>
      </p:sp>
      <p:sp>
        <p:nvSpPr>
          <p:cNvPr id="23" name="Text 20"/>
          <p:cNvSpPr txBox="1"/>
          <p:nvPr/>
        </p:nvSpPr>
        <p:spPr>
          <a:xfrm>
            <a:off x="5257800" y="3273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4" name="Text 21"/>
          <p:cNvSpPr txBox="1"/>
          <p:nvPr/>
        </p:nvSpPr>
        <p:spPr>
          <a:xfrm>
            <a:off x="5833872" y="31363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Manual or simulated app-use and activity input</a:t>
            </a:r>
            <a:endParaRPr lang="en-US" sz="1400" dirty="0"/>
          </a:p>
        </p:txBody>
      </p:sp>
      <p:sp>
        <p:nvSpPr>
          <p:cNvPr id="25" name="Shape 22"/>
          <p:cNvSpPr/>
          <p:nvPr/>
        </p:nvSpPr>
        <p:spPr>
          <a:xfrm>
            <a:off x="5120640" y="4023360"/>
            <a:ext cx="3154680" cy="786384"/>
          </a:xfrm>
          <a:prstGeom prst="roundRect">
            <a:avLst>
              <a:gd name="adj" fmla="val 11628"/>
            </a:avLst>
          </a:prstGeom>
          <a:solidFill>
            <a:srgbClr val="FBEBDC"/>
          </a:solidFill>
          <a:ln/>
        </p:spPr>
      </p:sp>
      <p:sp>
        <p:nvSpPr>
          <p:cNvPr id="26" name="Shape 23"/>
          <p:cNvSpPr/>
          <p:nvPr/>
        </p:nvSpPr>
        <p:spPr>
          <a:xfrm>
            <a:off x="5257800" y="4187952"/>
            <a:ext cx="457200" cy="457200"/>
          </a:xfrm>
          <a:prstGeom prst="ellipse">
            <a:avLst/>
          </a:prstGeom>
          <a:solidFill>
            <a:srgbClr val="C2620A"/>
          </a:solidFill>
          <a:ln/>
        </p:spPr>
      </p:sp>
      <p:sp>
        <p:nvSpPr>
          <p:cNvPr id="27" name="Text 24"/>
          <p:cNvSpPr txBox="1"/>
          <p:nvPr/>
        </p:nvSpPr>
        <p:spPr>
          <a:xfrm>
            <a:off x="5257800" y="41879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8" name="Text 25"/>
          <p:cNvSpPr txBox="1"/>
          <p:nvPr/>
        </p:nvSpPr>
        <p:spPr>
          <a:xfrm>
            <a:off x="5833872" y="40507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Distraction-event logging</a:t>
            </a:r>
            <a:endParaRPr lang="en-US" sz="1400" dirty="0"/>
          </a:p>
        </p:txBody>
      </p:sp>
      <p:sp>
        <p:nvSpPr>
          <p:cNvPr id="29" name="Shape 26"/>
          <p:cNvSpPr/>
          <p:nvPr/>
        </p:nvSpPr>
        <p:spPr>
          <a:xfrm>
            <a:off x="5120640" y="4937760"/>
            <a:ext cx="3154680" cy="786384"/>
          </a:xfrm>
          <a:prstGeom prst="roundRect">
            <a:avLst>
              <a:gd name="adj" fmla="val 11628"/>
            </a:avLst>
          </a:prstGeom>
          <a:solidFill>
            <a:srgbClr val="FBEBDC"/>
          </a:solidFill>
          <a:ln/>
        </p:spPr>
      </p:sp>
      <p:sp>
        <p:nvSpPr>
          <p:cNvPr id="30" name="Shape 27"/>
          <p:cNvSpPr/>
          <p:nvPr/>
        </p:nvSpPr>
        <p:spPr>
          <a:xfrm>
            <a:off x="5257800" y="5102352"/>
            <a:ext cx="457200" cy="457200"/>
          </a:xfrm>
          <a:prstGeom prst="ellipse">
            <a:avLst/>
          </a:prstGeom>
          <a:solidFill>
            <a:srgbClr val="C2620A"/>
          </a:solidFill>
          <a:ln/>
        </p:spPr>
      </p:sp>
      <p:sp>
        <p:nvSpPr>
          <p:cNvPr id="31" name="Text 28"/>
          <p:cNvSpPr txBox="1"/>
          <p:nvPr/>
        </p:nvSpPr>
        <p:spPr>
          <a:xfrm>
            <a:off x="5257800" y="5102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2" name="Text 29"/>
          <p:cNvSpPr txBox="1"/>
          <p:nvPr/>
        </p:nvSpPr>
        <p:spPr>
          <a:xfrm>
            <a:off x="5833872" y="49651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Focus-versus-distraction comparison</a:t>
            </a:r>
            <a:endParaRPr lang="en-US" sz="1400" dirty="0"/>
          </a:p>
        </p:txBody>
      </p:sp>
      <p:sp>
        <p:nvSpPr>
          <p:cNvPr id="33" name="Shape 30"/>
          <p:cNvSpPr/>
          <p:nvPr/>
        </p:nvSpPr>
        <p:spPr>
          <a:xfrm>
            <a:off x="8577072" y="1280160"/>
            <a:ext cx="3154680" cy="786384"/>
          </a:xfrm>
          <a:prstGeom prst="roundRect">
            <a:avLst>
              <a:gd name="adj" fmla="val 11628"/>
            </a:avLst>
          </a:prstGeom>
          <a:solidFill>
            <a:srgbClr val="FBEBDC"/>
          </a:solidFill>
          <a:ln/>
        </p:spPr>
      </p:sp>
      <p:sp>
        <p:nvSpPr>
          <p:cNvPr id="34" name="Shape 31"/>
          <p:cNvSpPr/>
          <p:nvPr/>
        </p:nvSpPr>
        <p:spPr>
          <a:xfrm>
            <a:off x="8714232" y="1444752"/>
            <a:ext cx="457200" cy="457200"/>
          </a:xfrm>
          <a:prstGeom prst="ellipse">
            <a:avLst/>
          </a:prstGeom>
          <a:solidFill>
            <a:srgbClr val="C2620A"/>
          </a:solidFill>
          <a:ln/>
        </p:spPr>
      </p:sp>
      <p:sp>
        <p:nvSpPr>
          <p:cNvPr id="35" name="Text 32"/>
          <p:cNvSpPr txBox="1"/>
          <p:nvPr/>
        </p:nvSpPr>
        <p:spPr>
          <a:xfrm>
            <a:off x="8714232" y="1444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6" name="Text 33"/>
          <p:cNvSpPr txBox="1"/>
          <p:nvPr/>
        </p:nvSpPr>
        <p:spPr>
          <a:xfrm>
            <a:off x="9290304" y="13075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Dynamic recommendations based on user choices</a:t>
            </a:r>
            <a:endParaRPr lang="en-US" sz="1400" dirty="0"/>
          </a:p>
        </p:txBody>
      </p:sp>
      <p:sp>
        <p:nvSpPr>
          <p:cNvPr id="37" name="Shape 34"/>
          <p:cNvSpPr/>
          <p:nvPr/>
        </p:nvSpPr>
        <p:spPr>
          <a:xfrm>
            <a:off x="8577072" y="2194560"/>
            <a:ext cx="3154680" cy="786384"/>
          </a:xfrm>
          <a:prstGeom prst="roundRect">
            <a:avLst>
              <a:gd name="adj" fmla="val 11628"/>
            </a:avLst>
          </a:prstGeom>
          <a:solidFill>
            <a:srgbClr val="FBEBDC"/>
          </a:solidFill>
          <a:ln/>
        </p:spPr>
      </p:sp>
      <p:sp>
        <p:nvSpPr>
          <p:cNvPr id="38" name="Shape 35"/>
          <p:cNvSpPr/>
          <p:nvPr/>
        </p:nvSpPr>
        <p:spPr>
          <a:xfrm>
            <a:off x="8714232" y="2359152"/>
            <a:ext cx="457200" cy="457200"/>
          </a:xfrm>
          <a:prstGeom prst="ellipse">
            <a:avLst/>
          </a:prstGeom>
          <a:solidFill>
            <a:srgbClr val="C2620A"/>
          </a:solidFill>
          <a:ln/>
        </p:spPr>
      </p:sp>
      <p:sp>
        <p:nvSpPr>
          <p:cNvPr id="39" name="Text 36"/>
          <p:cNvSpPr txBox="1"/>
          <p:nvPr/>
        </p:nvSpPr>
        <p:spPr>
          <a:xfrm>
            <a:off x="8714232" y="23591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0" name="Text 37"/>
          <p:cNvSpPr txBox="1"/>
          <p:nvPr/>
        </p:nvSpPr>
        <p:spPr>
          <a:xfrm>
            <a:off x="9290304" y="22219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Scenario simulation involving competing priorities</a:t>
            </a:r>
            <a:endParaRPr lang="en-US" sz="1400" dirty="0"/>
          </a:p>
        </p:txBody>
      </p:sp>
      <p:sp>
        <p:nvSpPr>
          <p:cNvPr id="41" name="Shape 38"/>
          <p:cNvSpPr/>
          <p:nvPr/>
        </p:nvSpPr>
        <p:spPr>
          <a:xfrm>
            <a:off x="8577072" y="3108960"/>
            <a:ext cx="3154680" cy="786384"/>
          </a:xfrm>
          <a:prstGeom prst="roundRect">
            <a:avLst>
              <a:gd name="adj" fmla="val 11628"/>
            </a:avLst>
          </a:prstGeom>
          <a:solidFill>
            <a:srgbClr val="FBEBDC"/>
          </a:solidFill>
          <a:ln/>
        </p:spPr>
      </p:sp>
      <p:sp>
        <p:nvSpPr>
          <p:cNvPr id="42" name="Shape 39"/>
          <p:cNvSpPr/>
          <p:nvPr/>
        </p:nvSpPr>
        <p:spPr>
          <a:xfrm>
            <a:off x="8714232" y="3273552"/>
            <a:ext cx="457200" cy="457200"/>
          </a:xfrm>
          <a:prstGeom prst="ellipse">
            <a:avLst/>
          </a:prstGeom>
          <a:solidFill>
            <a:srgbClr val="C2620A"/>
          </a:solidFill>
          <a:ln/>
        </p:spPr>
      </p:sp>
      <p:sp>
        <p:nvSpPr>
          <p:cNvPr id="43" name="Text 40"/>
          <p:cNvSpPr txBox="1"/>
          <p:nvPr/>
        </p:nvSpPr>
        <p:spPr>
          <a:xfrm>
            <a:off x="8714232" y="3273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4" name="Text 41"/>
          <p:cNvSpPr txBox="1"/>
          <p:nvPr/>
        </p:nvSpPr>
        <p:spPr>
          <a:xfrm>
            <a:off x="9290304" y="31363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Progress and habit-trend charts</a:t>
            </a:r>
            <a:endParaRPr lang="en-US" sz="1400" dirty="0"/>
          </a:p>
        </p:txBody>
      </p:sp>
      <p:sp>
        <p:nvSpPr>
          <p:cNvPr id="45" name="Shape 42"/>
          <p:cNvSpPr/>
          <p:nvPr/>
        </p:nvSpPr>
        <p:spPr>
          <a:xfrm>
            <a:off x="8577072" y="4023360"/>
            <a:ext cx="3154680" cy="786384"/>
          </a:xfrm>
          <a:prstGeom prst="roundRect">
            <a:avLst>
              <a:gd name="adj" fmla="val 11628"/>
            </a:avLst>
          </a:prstGeom>
          <a:solidFill>
            <a:srgbClr val="FBEBDC"/>
          </a:solidFill>
          <a:ln/>
        </p:spPr>
      </p:sp>
      <p:sp>
        <p:nvSpPr>
          <p:cNvPr id="46" name="Shape 43"/>
          <p:cNvSpPr/>
          <p:nvPr/>
        </p:nvSpPr>
        <p:spPr>
          <a:xfrm>
            <a:off x="8714232" y="4187952"/>
            <a:ext cx="457200" cy="457200"/>
          </a:xfrm>
          <a:prstGeom prst="ellipse">
            <a:avLst/>
          </a:prstGeom>
          <a:solidFill>
            <a:srgbClr val="C2620A"/>
          </a:solidFill>
          <a:ln/>
        </p:spPr>
      </p:sp>
      <p:sp>
        <p:nvSpPr>
          <p:cNvPr id="47" name="Text 44"/>
          <p:cNvSpPr txBox="1"/>
          <p:nvPr/>
        </p:nvSpPr>
        <p:spPr>
          <a:xfrm>
            <a:off x="8714232" y="41879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8" name="Text 45"/>
          <p:cNvSpPr txBox="1"/>
          <p:nvPr/>
        </p:nvSpPr>
        <p:spPr>
          <a:xfrm>
            <a:off x="9290304" y="40507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Personal goals and adjustable attention allocations</a:t>
            </a:r>
            <a:endParaRPr lang="en-US" sz="1400" dirty="0"/>
          </a:p>
        </p:txBody>
      </p:sp>
      <p:sp>
        <p:nvSpPr>
          <p:cNvPr id="49" name="Shape 46"/>
          <p:cNvSpPr/>
          <p:nvPr/>
        </p:nvSpPr>
        <p:spPr>
          <a:xfrm>
            <a:off x="8577072" y="4937760"/>
            <a:ext cx="3154680" cy="786384"/>
          </a:xfrm>
          <a:prstGeom prst="roundRect">
            <a:avLst>
              <a:gd name="adj" fmla="val 11628"/>
            </a:avLst>
          </a:prstGeom>
          <a:solidFill>
            <a:srgbClr val="FBEBDC"/>
          </a:solidFill>
          <a:ln/>
        </p:spPr>
      </p:sp>
      <p:sp>
        <p:nvSpPr>
          <p:cNvPr id="50" name="Shape 47"/>
          <p:cNvSpPr/>
          <p:nvPr/>
        </p:nvSpPr>
        <p:spPr>
          <a:xfrm>
            <a:off x="8714232" y="5102352"/>
            <a:ext cx="457200" cy="457200"/>
          </a:xfrm>
          <a:prstGeom prst="ellipse">
            <a:avLst/>
          </a:prstGeom>
          <a:solidFill>
            <a:srgbClr val="C2620A"/>
          </a:solidFill>
          <a:ln/>
        </p:spPr>
      </p:sp>
      <p:sp>
        <p:nvSpPr>
          <p:cNvPr id="51" name="Text 48"/>
          <p:cNvSpPr txBox="1"/>
          <p:nvPr/>
        </p:nvSpPr>
        <p:spPr>
          <a:xfrm>
            <a:off x="8714232" y="5102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52" name="Text 49"/>
          <p:cNvSpPr txBox="1"/>
          <p:nvPr/>
        </p:nvSpPr>
        <p:spPr>
          <a:xfrm>
            <a:off x="9290304" y="49651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Transparent explanation of scores, assumptions, and recommendations</a:t>
            </a:r>
            <a:endParaRPr lang="en-US" sz="1400" dirty="0"/>
          </a:p>
        </p:txBody>
      </p:sp>
      <p:sp>
        <p:nvSpPr>
          <p:cNvPr id="53" name="Text 50"/>
          <p:cNvSpPr txBox="1"/>
          <p:nvPr/>
        </p:nvSpPr>
        <p:spPr>
          <a:xfrm>
            <a:off x="5120640" y="6355080"/>
            <a:ext cx="658368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BYTEQUEST|  Clear Mind. Clean Code.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9"/>
        </a:solidFill>
        <a:effectLst/>
      </p:bgPr>
    </p:bg>
    <p:spTree>
      <p:nvGrpSpPr>
        <p:cNvPr id="1" name=""/>
        <p:cNvGrpSpPr/>
        <p:nvPr/>
      </p:nvGrpSpPr>
      <p:grpSpPr>
        <a:xfrm>
          <a:off x="0" y="0"/>
          <a:ext cx="0" cy="0"/>
          <a:chOff x="0" y="0"/>
          <a:chExt cx="0" cy="0"/>
        </a:xfrm>
      </p:grpSpPr>
      <p:sp>
        <p:nvSpPr>
          <p:cNvPr id="2" name="Shape 0"/>
          <p:cNvSpPr/>
          <p:nvPr/>
        </p:nvSpPr>
        <p:spPr>
          <a:xfrm>
            <a:off x="0" y="0"/>
            <a:ext cx="4572000" cy="6858000"/>
          </a:xfrm>
          <a:prstGeom prst="rect">
            <a:avLst/>
          </a:prstGeom>
          <a:solidFill>
            <a:srgbClr val="0E2A35"/>
          </a:solidFill>
          <a:ln/>
        </p:spPr>
      </p:sp>
      <p:sp>
        <p:nvSpPr>
          <p:cNvPr id="3" name="Shape 1"/>
          <p:cNvSpPr/>
          <p:nvPr/>
        </p:nvSpPr>
        <p:spPr>
          <a:xfrm>
            <a:off x="457200" y="457200"/>
            <a:ext cx="502920" cy="502920"/>
          </a:xfrm>
          <a:prstGeom prst="ellipse">
            <a:avLst/>
          </a:prstGeom>
          <a:solidFill>
            <a:srgbClr val="C0392B"/>
          </a:solidFill>
          <a:ln/>
        </p:spPr>
      </p:sp>
      <p:pic>
        <p:nvPicPr>
          <p:cNvPr id="4" name="Image 0" descr="preencoded.png"/>
          <p:cNvPicPr>
            <a:picLocks noChangeAspect="1"/>
          </p:cNvPicPr>
          <p:nvPr/>
        </p:nvPicPr>
        <p:blipFill>
          <a:blip r:embed="rId3"/>
          <a:stretch>
            <a:fillRect/>
          </a:stretch>
        </p:blipFill>
        <p:spPr>
          <a:xfrm>
            <a:off x="576072" y="576072"/>
            <a:ext cx="265176" cy="265176"/>
          </a:xfrm>
          <a:prstGeom prst="rect">
            <a:avLst/>
          </a:prstGeom>
        </p:spPr>
      </p:pic>
      <p:sp>
        <p:nvSpPr>
          <p:cNvPr id="5" name="Text 2"/>
          <p:cNvSpPr txBox="1"/>
          <p:nvPr/>
        </p:nvSpPr>
        <p:spPr>
          <a:xfrm>
            <a:off x="1143000" y="457200"/>
            <a:ext cx="3017520" cy="502920"/>
          </a:xfrm>
          <a:prstGeom prst="rect">
            <a:avLst/>
          </a:prstGeom>
          <a:noFill/>
          <a:ln/>
        </p:spPr>
        <p:txBody>
          <a:bodyPr wrap="square" lIns="0" tIns="0" rIns="0" bIns="0" rtlCol="0" anchor="ctr"/>
          <a:lstStyle/>
          <a:p>
            <a:pPr marL="0" indent="0">
              <a:buNone/>
            </a:pPr>
            <a:r>
              <a:rPr lang="en-US" sz="1400" b="1" kern="0" spc="300" dirty="0">
                <a:solidFill>
                  <a:srgbClr val="7FD6C8"/>
                </a:solidFill>
                <a:latin typeface="Calibri" pitchFamily="34" charset="0"/>
                <a:ea typeface="Calibri" pitchFamily="34" charset="-122"/>
                <a:cs typeface="Calibri" pitchFamily="34" charset="-120"/>
              </a:rPr>
              <a:t>PROBLEM 08</a:t>
            </a:r>
            <a:endParaRPr lang="en-US" sz="1400" dirty="0"/>
          </a:p>
        </p:txBody>
      </p:sp>
      <p:sp>
        <p:nvSpPr>
          <p:cNvPr id="6" name="Text 3"/>
          <p:cNvSpPr txBox="1"/>
          <p:nvPr/>
        </p:nvSpPr>
        <p:spPr>
          <a:xfrm>
            <a:off x="457200" y="1188720"/>
            <a:ext cx="3657600" cy="457200"/>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The 10-Minute Crisis</a:t>
            </a:r>
            <a:endParaRPr lang="en-US" sz="2600" dirty="0"/>
          </a:p>
        </p:txBody>
      </p:sp>
      <p:sp>
        <p:nvSpPr>
          <p:cNvPr id="7" name="Text 4"/>
          <p:cNvSpPr txBox="1"/>
          <p:nvPr/>
        </p:nvSpPr>
        <p:spPr>
          <a:xfrm>
            <a:off x="457200" y="1664208"/>
            <a:ext cx="3657600" cy="365760"/>
          </a:xfrm>
          <a:prstGeom prst="rect">
            <a:avLst/>
          </a:prstGeom>
          <a:noFill/>
          <a:ln/>
        </p:spPr>
        <p:txBody>
          <a:bodyPr wrap="square" lIns="0" tIns="0" rIns="0" bIns="0" rtlCol="0" anchor="t"/>
          <a:lstStyle/>
          <a:p>
            <a:pPr marL="0" indent="0">
              <a:buNone/>
            </a:pPr>
            <a:r>
              <a:rPr lang="en-US" sz="1600" dirty="0">
                <a:solidFill>
                  <a:srgbClr val="C9D8DE"/>
                </a:solidFill>
                <a:latin typeface="Calibri" pitchFamily="34" charset="0"/>
                <a:ea typeface="Calibri" pitchFamily="34" charset="-122"/>
                <a:cs typeface="Calibri" pitchFamily="34" charset="-120"/>
              </a:rPr>
              <a:t>Crisis Decision Engine</a:t>
            </a:r>
            <a:endParaRPr lang="en-US" sz="1600" dirty="0"/>
          </a:p>
        </p:txBody>
      </p:sp>
      <p:sp>
        <p:nvSpPr>
          <p:cNvPr id="8" name="Shape 5"/>
          <p:cNvSpPr/>
          <p:nvPr/>
        </p:nvSpPr>
        <p:spPr>
          <a:xfrm>
            <a:off x="457200" y="2194560"/>
            <a:ext cx="2916936" cy="347472"/>
          </a:xfrm>
          <a:prstGeom prst="roundRect">
            <a:avLst>
              <a:gd name="adj" fmla="val 50000"/>
            </a:avLst>
          </a:prstGeom>
          <a:solidFill>
            <a:srgbClr val="C0392B"/>
          </a:solidFill>
          <a:ln/>
        </p:spPr>
      </p:sp>
      <p:sp>
        <p:nvSpPr>
          <p:cNvPr id="9" name="Text 6"/>
          <p:cNvSpPr txBox="1"/>
          <p:nvPr/>
        </p:nvSpPr>
        <p:spPr>
          <a:xfrm>
            <a:off x="457200" y="2194560"/>
            <a:ext cx="2916936"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Track D  ·  Tech for Safe Campuses</a:t>
            </a:r>
            <a:endParaRPr lang="en-US" sz="1200" dirty="0"/>
          </a:p>
        </p:txBody>
      </p:sp>
      <p:sp>
        <p:nvSpPr>
          <p:cNvPr id="10" name="Text 7"/>
          <p:cNvSpPr txBox="1"/>
          <p:nvPr/>
        </p:nvSpPr>
        <p:spPr>
          <a:xfrm>
            <a:off x="457200" y="2788920"/>
            <a:ext cx="3657600" cy="274320"/>
          </a:xfrm>
          <a:prstGeom prst="rect">
            <a:avLst/>
          </a:prstGeom>
          <a:noFill/>
          <a:ln/>
        </p:spPr>
        <p:txBody>
          <a:bodyPr wrap="square" lIns="0" tIns="0" rIns="0" bIns="0" rtlCol="0" anchor="ctr"/>
          <a:lstStyle/>
          <a:p>
            <a:pPr marL="0" indent="0">
              <a:buNone/>
            </a:pPr>
            <a:r>
              <a:rPr lang="en-US" sz="1200" b="1" kern="0" spc="300" dirty="0">
                <a:solidFill>
                  <a:srgbClr val="7FD6C8"/>
                </a:solidFill>
                <a:latin typeface="Calibri" pitchFamily="34" charset="0"/>
                <a:ea typeface="Calibri" pitchFamily="34" charset="-122"/>
                <a:cs typeface="Calibri" pitchFamily="34" charset="-120"/>
              </a:rPr>
              <a:t>THE CHALLENGE</a:t>
            </a:r>
            <a:endParaRPr lang="en-US" sz="1200" dirty="0"/>
          </a:p>
        </p:txBody>
      </p:sp>
      <p:sp>
        <p:nvSpPr>
          <p:cNvPr id="11" name="Text 8"/>
          <p:cNvSpPr txBox="1"/>
          <p:nvPr/>
        </p:nvSpPr>
        <p:spPr>
          <a:xfrm>
            <a:off x="457200" y="3108960"/>
            <a:ext cx="3657600" cy="3383280"/>
          </a:xfrm>
          <a:prstGeom prst="rect">
            <a:avLst/>
          </a:prstGeom>
          <a:noFill/>
          <a:ln/>
        </p:spPr>
        <p:txBody>
          <a:bodyPr wrap="square" lIns="0" tIns="0" rIns="0" bIns="0" rtlCol="0" anchor="t"/>
          <a:lstStyle/>
          <a:p>
            <a:pPr marL="0" indent="0">
              <a:buNone/>
            </a:pPr>
            <a:r>
              <a:rPr lang="en-US" sz="1300" dirty="0">
                <a:solidFill>
                  <a:srgbClr val="E6EEF1"/>
                </a:solidFill>
                <a:latin typeface="Calibri" pitchFamily="34" charset="0"/>
                <a:ea typeface="Calibri" pitchFamily="34" charset="-122"/>
                <a:cs typeface="Calibri" pitchFamily="34" charset="-120"/>
              </a:rPr>
              <a:t>During a campus emergency, several incidents may occur simultaneously. For example, a medical emergency may be reported while a route becomes unavailable, crowd density increases, multiple students request help, and uncertain information begins circulating. The challenge is not merely to detect or display incidents. The system must decide what should happen first when resources are limited and the situation changes rapidly. Build a crisis decision-support engine that receives multiple simulated incidents, calculates their urgency and impact, allocates available resources, detects dependencies, and generates an explainable action plan for the next ten minutes.</a:t>
            </a:r>
            <a:endParaRPr lang="en-US" sz="1300" dirty="0"/>
          </a:p>
        </p:txBody>
      </p:sp>
      <p:sp>
        <p:nvSpPr>
          <p:cNvPr id="12" name="Text 9"/>
          <p:cNvSpPr txBox="1"/>
          <p:nvPr/>
        </p:nvSpPr>
        <p:spPr>
          <a:xfrm>
            <a:off x="5120640" y="457200"/>
            <a:ext cx="6400800" cy="548640"/>
          </a:xfrm>
          <a:prstGeom prst="rect">
            <a:avLst/>
          </a:prstGeom>
          <a:noFill/>
          <a:ln/>
        </p:spPr>
        <p:txBody>
          <a:bodyPr wrap="square" lIns="0" tIns="0" rIns="0" bIns="0" rtlCol="0" anchor="ctr"/>
          <a:lstStyle/>
          <a:p>
            <a:pPr marL="0" indent="0">
              <a:buNone/>
            </a:pPr>
            <a:r>
              <a:rPr lang="en-US" sz="2600" b="1" dirty="0">
                <a:solidFill>
                  <a:srgbClr val="0E2A35"/>
                </a:solidFill>
                <a:latin typeface="Cambria" pitchFamily="34" charset="0"/>
                <a:ea typeface="Cambria" pitchFamily="34" charset="-122"/>
                <a:cs typeface="Cambria" pitchFamily="34" charset="-120"/>
              </a:rPr>
              <a:t>10 Required Deliverables</a:t>
            </a:r>
            <a:endParaRPr lang="en-US" sz="2600" dirty="0"/>
          </a:p>
        </p:txBody>
      </p:sp>
      <p:sp>
        <p:nvSpPr>
          <p:cNvPr id="13" name="Shape 10"/>
          <p:cNvSpPr/>
          <p:nvPr/>
        </p:nvSpPr>
        <p:spPr>
          <a:xfrm>
            <a:off x="5120640" y="1280160"/>
            <a:ext cx="3154680" cy="786384"/>
          </a:xfrm>
          <a:prstGeom prst="roundRect">
            <a:avLst>
              <a:gd name="adj" fmla="val 11628"/>
            </a:avLst>
          </a:prstGeom>
          <a:solidFill>
            <a:srgbClr val="F8E3E0"/>
          </a:solidFill>
          <a:ln/>
        </p:spPr>
      </p:sp>
      <p:sp>
        <p:nvSpPr>
          <p:cNvPr id="14" name="Shape 11"/>
          <p:cNvSpPr/>
          <p:nvPr/>
        </p:nvSpPr>
        <p:spPr>
          <a:xfrm>
            <a:off x="5257800" y="1444752"/>
            <a:ext cx="457200" cy="457200"/>
          </a:xfrm>
          <a:prstGeom prst="ellipse">
            <a:avLst/>
          </a:prstGeom>
          <a:solidFill>
            <a:srgbClr val="C0392B"/>
          </a:solidFill>
          <a:ln/>
        </p:spPr>
      </p:sp>
      <p:sp>
        <p:nvSpPr>
          <p:cNvPr id="15" name="Text 12"/>
          <p:cNvSpPr txBox="1"/>
          <p:nvPr/>
        </p:nvSpPr>
        <p:spPr>
          <a:xfrm>
            <a:off x="5257800" y="1444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6" name="Text 13"/>
          <p:cNvSpPr txBox="1"/>
          <p:nvPr/>
        </p:nvSpPr>
        <p:spPr>
          <a:xfrm>
            <a:off x="5833872" y="13075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Incident registration and categorisation</a:t>
            </a:r>
            <a:endParaRPr lang="en-US" sz="1400" dirty="0"/>
          </a:p>
        </p:txBody>
      </p:sp>
      <p:sp>
        <p:nvSpPr>
          <p:cNvPr id="17" name="Shape 14"/>
          <p:cNvSpPr/>
          <p:nvPr/>
        </p:nvSpPr>
        <p:spPr>
          <a:xfrm>
            <a:off x="5120640" y="2194560"/>
            <a:ext cx="3154680" cy="786384"/>
          </a:xfrm>
          <a:prstGeom prst="roundRect">
            <a:avLst>
              <a:gd name="adj" fmla="val 11628"/>
            </a:avLst>
          </a:prstGeom>
          <a:solidFill>
            <a:srgbClr val="F8E3E0"/>
          </a:solidFill>
          <a:ln/>
        </p:spPr>
      </p:sp>
      <p:sp>
        <p:nvSpPr>
          <p:cNvPr id="18" name="Shape 15"/>
          <p:cNvSpPr/>
          <p:nvPr/>
        </p:nvSpPr>
        <p:spPr>
          <a:xfrm>
            <a:off x="5257800" y="2359152"/>
            <a:ext cx="457200" cy="457200"/>
          </a:xfrm>
          <a:prstGeom prst="ellipse">
            <a:avLst/>
          </a:prstGeom>
          <a:solidFill>
            <a:srgbClr val="C0392B"/>
          </a:solidFill>
          <a:ln/>
        </p:spPr>
      </p:sp>
      <p:sp>
        <p:nvSpPr>
          <p:cNvPr id="19" name="Text 16"/>
          <p:cNvSpPr txBox="1"/>
          <p:nvPr/>
        </p:nvSpPr>
        <p:spPr>
          <a:xfrm>
            <a:off x="5257800" y="23591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0" name="Text 17"/>
          <p:cNvSpPr txBox="1"/>
          <p:nvPr/>
        </p:nvSpPr>
        <p:spPr>
          <a:xfrm>
            <a:off x="5833872" y="22219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Inputs for urgency, severity, impact, location, and uncertainty</a:t>
            </a:r>
            <a:endParaRPr lang="en-US" sz="1400" dirty="0"/>
          </a:p>
        </p:txBody>
      </p:sp>
      <p:sp>
        <p:nvSpPr>
          <p:cNvPr id="21" name="Shape 18"/>
          <p:cNvSpPr/>
          <p:nvPr/>
        </p:nvSpPr>
        <p:spPr>
          <a:xfrm>
            <a:off x="5120640" y="3108960"/>
            <a:ext cx="3154680" cy="786384"/>
          </a:xfrm>
          <a:prstGeom prst="roundRect">
            <a:avLst>
              <a:gd name="adj" fmla="val 11628"/>
            </a:avLst>
          </a:prstGeom>
          <a:solidFill>
            <a:srgbClr val="F8E3E0"/>
          </a:solidFill>
          <a:ln/>
        </p:spPr>
      </p:sp>
      <p:sp>
        <p:nvSpPr>
          <p:cNvPr id="22" name="Shape 19"/>
          <p:cNvSpPr/>
          <p:nvPr/>
        </p:nvSpPr>
        <p:spPr>
          <a:xfrm>
            <a:off x="5257800" y="3273552"/>
            <a:ext cx="457200" cy="457200"/>
          </a:xfrm>
          <a:prstGeom prst="ellipse">
            <a:avLst/>
          </a:prstGeom>
          <a:solidFill>
            <a:srgbClr val="C0392B"/>
          </a:solidFill>
          <a:ln/>
        </p:spPr>
      </p:sp>
      <p:sp>
        <p:nvSpPr>
          <p:cNvPr id="23" name="Text 20"/>
          <p:cNvSpPr txBox="1"/>
          <p:nvPr/>
        </p:nvSpPr>
        <p:spPr>
          <a:xfrm>
            <a:off x="5257800" y="3273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4" name="Text 21"/>
          <p:cNvSpPr txBox="1"/>
          <p:nvPr/>
        </p:nvSpPr>
        <p:spPr>
          <a:xfrm>
            <a:off x="5833872" y="31363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Weighted priority-scoring engine</a:t>
            </a:r>
            <a:endParaRPr lang="en-US" sz="1400" dirty="0"/>
          </a:p>
        </p:txBody>
      </p:sp>
      <p:sp>
        <p:nvSpPr>
          <p:cNvPr id="25" name="Shape 22"/>
          <p:cNvSpPr/>
          <p:nvPr/>
        </p:nvSpPr>
        <p:spPr>
          <a:xfrm>
            <a:off x="5120640" y="4023360"/>
            <a:ext cx="3154680" cy="786384"/>
          </a:xfrm>
          <a:prstGeom prst="roundRect">
            <a:avLst>
              <a:gd name="adj" fmla="val 11628"/>
            </a:avLst>
          </a:prstGeom>
          <a:solidFill>
            <a:srgbClr val="F8E3E0"/>
          </a:solidFill>
          <a:ln/>
        </p:spPr>
      </p:sp>
      <p:sp>
        <p:nvSpPr>
          <p:cNvPr id="26" name="Shape 23"/>
          <p:cNvSpPr/>
          <p:nvPr/>
        </p:nvSpPr>
        <p:spPr>
          <a:xfrm>
            <a:off x="5257800" y="4187952"/>
            <a:ext cx="457200" cy="457200"/>
          </a:xfrm>
          <a:prstGeom prst="ellipse">
            <a:avLst/>
          </a:prstGeom>
          <a:solidFill>
            <a:srgbClr val="C0392B"/>
          </a:solidFill>
          <a:ln/>
        </p:spPr>
      </p:sp>
      <p:sp>
        <p:nvSpPr>
          <p:cNvPr id="27" name="Text 24"/>
          <p:cNvSpPr txBox="1"/>
          <p:nvPr/>
        </p:nvSpPr>
        <p:spPr>
          <a:xfrm>
            <a:off x="5257800" y="41879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8" name="Text 25"/>
          <p:cNvSpPr txBox="1"/>
          <p:nvPr/>
        </p:nvSpPr>
        <p:spPr>
          <a:xfrm>
            <a:off x="5833872" y="40507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Dynamic ranked action queue</a:t>
            </a:r>
            <a:endParaRPr lang="en-US" sz="1400" dirty="0"/>
          </a:p>
        </p:txBody>
      </p:sp>
      <p:sp>
        <p:nvSpPr>
          <p:cNvPr id="29" name="Shape 26"/>
          <p:cNvSpPr/>
          <p:nvPr/>
        </p:nvSpPr>
        <p:spPr>
          <a:xfrm>
            <a:off x="5120640" y="4937760"/>
            <a:ext cx="3154680" cy="786384"/>
          </a:xfrm>
          <a:prstGeom prst="roundRect">
            <a:avLst>
              <a:gd name="adj" fmla="val 11628"/>
            </a:avLst>
          </a:prstGeom>
          <a:solidFill>
            <a:srgbClr val="F8E3E0"/>
          </a:solidFill>
          <a:ln/>
        </p:spPr>
      </p:sp>
      <p:sp>
        <p:nvSpPr>
          <p:cNvPr id="30" name="Shape 27"/>
          <p:cNvSpPr/>
          <p:nvPr/>
        </p:nvSpPr>
        <p:spPr>
          <a:xfrm>
            <a:off x="5257800" y="5102352"/>
            <a:ext cx="457200" cy="457200"/>
          </a:xfrm>
          <a:prstGeom prst="ellipse">
            <a:avLst/>
          </a:prstGeom>
          <a:solidFill>
            <a:srgbClr val="C0392B"/>
          </a:solidFill>
          <a:ln/>
        </p:spPr>
      </p:sp>
      <p:sp>
        <p:nvSpPr>
          <p:cNvPr id="31" name="Text 28"/>
          <p:cNvSpPr txBox="1"/>
          <p:nvPr/>
        </p:nvSpPr>
        <p:spPr>
          <a:xfrm>
            <a:off x="5257800" y="5102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2" name="Text 29"/>
          <p:cNvSpPr txBox="1"/>
          <p:nvPr/>
        </p:nvSpPr>
        <p:spPr>
          <a:xfrm>
            <a:off x="5833872" y="49651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Resource-availability dashboard</a:t>
            </a:r>
            <a:endParaRPr lang="en-US" sz="1400" dirty="0"/>
          </a:p>
        </p:txBody>
      </p:sp>
      <p:sp>
        <p:nvSpPr>
          <p:cNvPr id="33" name="Shape 30"/>
          <p:cNvSpPr/>
          <p:nvPr/>
        </p:nvSpPr>
        <p:spPr>
          <a:xfrm>
            <a:off x="8577072" y="1280160"/>
            <a:ext cx="3154680" cy="786384"/>
          </a:xfrm>
          <a:prstGeom prst="roundRect">
            <a:avLst>
              <a:gd name="adj" fmla="val 11628"/>
            </a:avLst>
          </a:prstGeom>
          <a:solidFill>
            <a:srgbClr val="F8E3E0"/>
          </a:solidFill>
          <a:ln/>
        </p:spPr>
      </p:sp>
      <p:sp>
        <p:nvSpPr>
          <p:cNvPr id="34" name="Shape 31"/>
          <p:cNvSpPr/>
          <p:nvPr/>
        </p:nvSpPr>
        <p:spPr>
          <a:xfrm>
            <a:off x="8714232" y="1444752"/>
            <a:ext cx="457200" cy="457200"/>
          </a:xfrm>
          <a:prstGeom prst="ellipse">
            <a:avLst/>
          </a:prstGeom>
          <a:solidFill>
            <a:srgbClr val="C0392B"/>
          </a:solidFill>
          <a:ln/>
        </p:spPr>
      </p:sp>
      <p:sp>
        <p:nvSpPr>
          <p:cNvPr id="35" name="Text 32"/>
          <p:cNvSpPr txBox="1"/>
          <p:nvPr/>
        </p:nvSpPr>
        <p:spPr>
          <a:xfrm>
            <a:off x="8714232" y="1444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6" name="Text 33"/>
          <p:cNvSpPr txBox="1"/>
          <p:nvPr/>
        </p:nvSpPr>
        <p:spPr>
          <a:xfrm>
            <a:off x="9290304" y="13075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Resource allocation and conflict detection</a:t>
            </a:r>
            <a:endParaRPr lang="en-US" sz="1400" dirty="0"/>
          </a:p>
        </p:txBody>
      </p:sp>
      <p:sp>
        <p:nvSpPr>
          <p:cNvPr id="37" name="Shape 34"/>
          <p:cNvSpPr/>
          <p:nvPr/>
        </p:nvSpPr>
        <p:spPr>
          <a:xfrm>
            <a:off x="8577072" y="2194560"/>
            <a:ext cx="3154680" cy="786384"/>
          </a:xfrm>
          <a:prstGeom prst="roundRect">
            <a:avLst>
              <a:gd name="adj" fmla="val 11628"/>
            </a:avLst>
          </a:prstGeom>
          <a:solidFill>
            <a:srgbClr val="F8E3E0"/>
          </a:solidFill>
          <a:ln/>
        </p:spPr>
      </p:sp>
      <p:sp>
        <p:nvSpPr>
          <p:cNvPr id="38" name="Shape 35"/>
          <p:cNvSpPr/>
          <p:nvPr/>
        </p:nvSpPr>
        <p:spPr>
          <a:xfrm>
            <a:off x="8714232" y="2359152"/>
            <a:ext cx="457200" cy="457200"/>
          </a:xfrm>
          <a:prstGeom prst="ellipse">
            <a:avLst/>
          </a:prstGeom>
          <a:solidFill>
            <a:srgbClr val="C0392B"/>
          </a:solidFill>
          <a:ln/>
        </p:spPr>
      </p:sp>
      <p:sp>
        <p:nvSpPr>
          <p:cNvPr id="39" name="Text 36"/>
          <p:cNvSpPr txBox="1"/>
          <p:nvPr/>
        </p:nvSpPr>
        <p:spPr>
          <a:xfrm>
            <a:off x="8714232" y="23591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0" name="Text 37"/>
          <p:cNvSpPr txBox="1"/>
          <p:nvPr/>
        </p:nvSpPr>
        <p:spPr>
          <a:xfrm>
            <a:off x="9290304" y="22219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Duplicate and related-report grouping</a:t>
            </a:r>
            <a:endParaRPr lang="en-US" sz="1400" dirty="0"/>
          </a:p>
        </p:txBody>
      </p:sp>
      <p:sp>
        <p:nvSpPr>
          <p:cNvPr id="41" name="Shape 38"/>
          <p:cNvSpPr/>
          <p:nvPr/>
        </p:nvSpPr>
        <p:spPr>
          <a:xfrm>
            <a:off x="8577072" y="3108960"/>
            <a:ext cx="3154680" cy="786384"/>
          </a:xfrm>
          <a:prstGeom prst="roundRect">
            <a:avLst>
              <a:gd name="adj" fmla="val 11628"/>
            </a:avLst>
          </a:prstGeom>
          <a:solidFill>
            <a:srgbClr val="F8E3E0"/>
          </a:solidFill>
          <a:ln/>
        </p:spPr>
      </p:sp>
      <p:sp>
        <p:nvSpPr>
          <p:cNvPr id="42" name="Shape 39"/>
          <p:cNvSpPr/>
          <p:nvPr/>
        </p:nvSpPr>
        <p:spPr>
          <a:xfrm>
            <a:off x="8714232" y="3273552"/>
            <a:ext cx="457200" cy="457200"/>
          </a:xfrm>
          <a:prstGeom prst="ellipse">
            <a:avLst/>
          </a:prstGeom>
          <a:solidFill>
            <a:srgbClr val="C0392B"/>
          </a:solidFill>
          <a:ln/>
        </p:spPr>
      </p:sp>
      <p:sp>
        <p:nvSpPr>
          <p:cNvPr id="43" name="Text 40"/>
          <p:cNvSpPr txBox="1"/>
          <p:nvPr/>
        </p:nvSpPr>
        <p:spPr>
          <a:xfrm>
            <a:off x="8714232" y="3273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4" name="Text 41"/>
          <p:cNvSpPr txBox="1"/>
          <p:nvPr/>
        </p:nvSpPr>
        <p:spPr>
          <a:xfrm>
            <a:off x="9290304" y="31363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Dependency detection between incidents and routes</a:t>
            </a:r>
            <a:endParaRPr lang="en-US" sz="1400" dirty="0"/>
          </a:p>
        </p:txBody>
      </p:sp>
      <p:sp>
        <p:nvSpPr>
          <p:cNvPr id="45" name="Shape 42"/>
          <p:cNvSpPr/>
          <p:nvPr/>
        </p:nvSpPr>
        <p:spPr>
          <a:xfrm>
            <a:off x="8577072" y="4023360"/>
            <a:ext cx="3154680" cy="786384"/>
          </a:xfrm>
          <a:prstGeom prst="roundRect">
            <a:avLst>
              <a:gd name="adj" fmla="val 11628"/>
            </a:avLst>
          </a:prstGeom>
          <a:solidFill>
            <a:srgbClr val="F8E3E0"/>
          </a:solidFill>
          <a:ln/>
        </p:spPr>
      </p:sp>
      <p:sp>
        <p:nvSpPr>
          <p:cNvPr id="46" name="Shape 43"/>
          <p:cNvSpPr/>
          <p:nvPr/>
        </p:nvSpPr>
        <p:spPr>
          <a:xfrm>
            <a:off x="8714232" y="4187952"/>
            <a:ext cx="457200" cy="457200"/>
          </a:xfrm>
          <a:prstGeom prst="ellipse">
            <a:avLst/>
          </a:prstGeom>
          <a:solidFill>
            <a:srgbClr val="C0392B"/>
          </a:solidFill>
          <a:ln/>
        </p:spPr>
      </p:sp>
      <p:sp>
        <p:nvSpPr>
          <p:cNvPr id="47" name="Text 44"/>
          <p:cNvSpPr txBox="1"/>
          <p:nvPr/>
        </p:nvSpPr>
        <p:spPr>
          <a:xfrm>
            <a:off x="8714232" y="41879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8" name="Text 45"/>
          <p:cNvSpPr txBox="1"/>
          <p:nvPr/>
        </p:nvSpPr>
        <p:spPr>
          <a:xfrm>
            <a:off x="9290304" y="40507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Explainable recommendations showing why each priority was assigned</a:t>
            </a:r>
            <a:endParaRPr lang="en-US" sz="1400" dirty="0"/>
          </a:p>
        </p:txBody>
      </p:sp>
      <p:sp>
        <p:nvSpPr>
          <p:cNvPr id="49" name="Shape 46"/>
          <p:cNvSpPr/>
          <p:nvPr/>
        </p:nvSpPr>
        <p:spPr>
          <a:xfrm>
            <a:off x="8577072" y="4937760"/>
            <a:ext cx="3154680" cy="786384"/>
          </a:xfrm>
          <a:prstGeom prst="roundRect">
            <a:avLst>
              <a:gd name="adj" fmla="val 11628"/>
            </a:avLst>
          </a:prstGeom>
          <a:solidFill>
            <a:srgbClr val="F8E3E0"/>
          </a:solidFill>
          <a:ln/>
        </p:spPr>
      </p:sp>
      <p:sp>
        <p:nvSpPr>
          <p:cNvPr id="50" name="Shape 47"/>
          <p:cNvSpPr/>
          <p:nvPr/>
        </p:nvSpPr>
        <p:spPr>
          <a:xfrm>
            <a:off x="8714232" y="5102352"/>
            <a:ext cx="457200" cy="457200"/>
          </a:xfrm>
          <a:prstGeom prst="ellipse">
            <a:avLst/>
          </a:prstGeom>
          <a:solidFill>
            <a:srgbClr val="C0392B"/>
          </a:solidFill>
          <a:ln/>
        </p:spPr>
      </p:sp>
      <p:sp>
        <p:nvSpPr>
          <p:cNvPr id="51" name="Text 48"/>
          <p:cNvSpPr txBox="1"/>
          <p:nvPr/>
        </p:nvSpPr>
        <p:spPr>
          <a:xfrm>
            <a:off x="8714232" y="5102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52" name="Text 49"/>
          <p:cNvSpPr txBox="1"/>
          <p:nvPr/>
        </p:nvSpPr>
        <p:spPr>
          <a:xfrm>
            <a:off x="9290304" y="4965192"/>
            <a:ext cx="2331720" cy="731520"/>
          </a:xfrm>
          <a:prstGeom prst="rect">
            <a:avLst/>
          </a:prstGeom>
          <a:noFill/>
          <a:ln/>
        </p:spPr>
        <p:txBody>
          <a:bodyPr wrap="square" lIns="0" tIns="0" rIns="0" bIns="0" rtlCol="0" anchor="ctr"/>
          <a:lstStyle/>
          <a:p>
            <a:pPr marL="0" indent="0">
              <a:buNone/>
            </a:pPr>
            <a:r>
              <a:rPr lang="en-US" sz="1400" dirty="0">
                <a:solidFill>
                  <a:srgbClr val="1B2B34"/>
                </a:solidFill>
                <a:latin typeface="Calibri" pitchFamily="34" charset="0"/>
                <a:ea typeface="Calibri" pitchFamily="34" charset="-122"/>
                <a:cs typeface="Calibri" pitchFamily="34" charset="-120"/>
              </a:rPr>
              <a:t>Simulation mode with changing conditions, audit trail, and human override</a:t>
            </a:r>
            <a:endParaRPr lang="en-US" sz="1400" dirty="0"/>
          </a:p>
        </p:txBody>
      </p:sp>
      <p:sp>
        <p:nvSpPr>
          <p:cNvPr id="53" name="Text 50"/>
          <p:cNvSpPr txBox="1"/>
          <p:nvPr/>
        </p:nvSpPr>
        <p:spPr>
          <a:xfrm>
            <a:off x="5120640" y="6355080"/>
            <a:ext cx="658368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BYTEQUEST|  Clear Mind. Clean Code.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9"/>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972800" cy="685800"/>
          </a:xfrm>
          <a:prstGeom prst="rect">
            <a:avLst/>
          </a:prstGeom>
          <a:noFill/>
          <a:ln/>
        </p:spPr>
        <p:txBody>
          <a:bodyPr wrap="square" lIns="0" tIns="0" rIns="0" bIns="0" rtlCol="0" anchor="ctr"/>
          <a:lstStyle/>
          <a:p>
            <a:pPr marL="0" indent="0">
              <a:buNone/>
            </a:pPr>
            <a:r>
              <a:rPr lang="en-US" sz="3400" b="1" dirty="0">
                <a:solidFill>
                  <a:srgbClr val="0E2A35"/>
                </a:solidFill>
                <a:latin typeface="Cambria" pitchFamily="34" charset="0"/>
                <a:ea typeface="Cambria" pitchFamily="34" charset="-122"/>
                <a:cs typeface="Cambria" pitchFamily="34" charset="-120"/>
              </a:rPr>
              <a:t>Ethical Guidelines for All Problem Statements</a:t>
            </a:r>
            <a:endParaRPr lang="en-US" sz="3400" dirty="0"/>
          </a:p>
        </p:txBody>
      </p:sp>
      <p:sp>
        <p:nvSpPr>
          <p:cNvPr id="4" name="Shape 2"/>
          <p:cNvSpPr/>
          <p:nvPr/>
        </p:nvSpPr>
        <p:spPr>
          <a:xfrm>
            <a:off x="548640" y="1645920"/>
            <a:ext cx="3520440" cy="4846320"/>
          </a:xfrm>
          <a:prstGeom prst="rect">
            <a:avLst/>
          </a:prstGeom>
          <a:solidFill>
            <a:srgbClr val="FFFFFF"/>
          </a:solidFill>
          <a:ln/>
          <a:effectLst>
            <a:outerShdw blurRad="101600" dist="25400" dir="5400000" algn="bl" rotWithShape="0">
              <a:srgbClr val="000000">
                <a:alpha val="12000"/>
              </a:srgbClr>
            </a:outerShdw>
          </a:effectLst>
        </p:spPr>
      </p:sp>
      <p:sp>
        <p:nvSpPr>
          <p:cNvPr id="5" name="Shape 3"/>
          <p:cNvSpPr/>
          <p:nvPr/>
        </p:nvSpPr>
        <p:spPr>
          <a:xfrm>
            <a:off x="822960" y="1920240"/>
            <a:ext cx="548640" cy="548640"/>
          </a:xfrm>
          <a:prstGeom prst="ellipse">
            <a:avLst/>
          </a:prstGeom>
          <a:solidFill>
            <a:srgbClr val="0F8B78"/>
          </a:solidFill>
          <a:ln/>
        </p:spPr>
      </p:sp>
      <p:pic>
        <p:nvPicPr>
          <p:cNvPr id="6" name="Image 0" descr="preencoded.png"/>
          <p:cNvPicPr>
            <a:picLocks noChangeAspect="1"/>
          </p:cNvPicPr>
          <p:nvPr/>
        </p:nvPicPr>
        <p:blipFill>
          <a:blip r:embed="rId3"/>
          <a:stretch>
            <a:fillRect/>
          </a:stretch>
        </p:blipFill>
        <p:spPr>
          <a:xfrm>
            <a:off x="969264" y="2066544"/>
            <a:ext cx="256032" cy="256032"/>
          </a:xfrm>
          <a:prstGeom prst="rect">
            <a:avLst/>
          </a:prstGeom>
        </p:spPr>
      </p:pic>
      <p:sp>
        <p:nvSpPr>
          <p:cNvPr id="7" name="Text 4"/>
          <p:cNvSpPr txBox="1"/>
          <p:nvPr/>
        </p:nvSpPr>
        <p:spPr>
          <a:xfrm>
            <a:off x="1508760" y="1920240"/>
            <a:ext cx="2423160" cy="548640"/>
          </a:xfrm>
          <a:prstGeom prst="rect">
            <a:avLst/>
          </a:prstGeom>
          <a:noFill/>
          <a:ln/>
        </p:spPr>
        <p:txBody>
          <a:bodyPr wrap="square" lIns="0" tIns="0" rIns="0" bIns="0" rtlCol="0" anchor="ctr"/>
          <a:lstStyle/>
          <a:p>
            <a:pPr marL="0" indent="0">
              <a:buNone/>
            </a:pPr>
            <a:r>
              <a:rPr lang="en-US" sz="1900" b="1" dirty="0">
                <a:solidFill>
                  <a:srgbClr val="0E2A35"/>
                </a:solidFill>
                <a:latin typeface="Cambria" pitchFamily="34" charset="0"/>
                <a:ea typeface="Cambria" pitchFamily="34" charset="-122"/>
                <a:cs typeface="Cambria" pitchFamily="34" charset="-120"/>
              </a:rPr>
              <a:t>Privacy &amp; Data</a:t>
            </a:r>
            <a:endParaRPr lang="en-US" sz="1900" dirty="0"/>
          </a:p>
        </p:txBody>
      </p:sp>
      <p:sp>
        <p:nvSpPr>
          <p:cNvPr id="8" name="Text 5"/>
          <p:cNvSpPr txBox="1"/>
          <p:nvPr/>
        </p:nvSpPr>
        <p:spPr>
          <a:xfrm>
            <a:off x="822960" y="2651760"/>
            <a:ext cx="2971800" cy="36118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B2B34"/>
                </a:solidFill>
                <a:latin typeface="Calibri" pitchFamily="34" charset="0"/>
                <a:ea typeface="Calibri" pitchFamily="34" charset="-122"/>
                <a:cs typeface="Calibri" pitchFamily="34" charset="-120"/>
              </a:rPr>
              <a:t>Privacy by design: collect only the minimum information required for the prototype.</a:t>
            </a:r>
            <a:endParaRPr lang="en-US" sz="1400" dirty="0"/>
          </a:p>
          <a:p>
            <a:pPr marL="342900" indent="-342900">
              <a:spcAft>
                <a:spcPts val="500"/>
              </a:spcAft>
              <a:buSzPct val="100000"/>
              <a:buChar char="•"/>
            </a:pPr>
            <a:r>
              <a:rPr lang="en-US" sz="1400" dirty="0">
                <a:solidFill>
                  <a:srgbClr val="1B2B34"/>
                </a:solidFill>
                <a:latin typeface="Calibri" pitchFamily="34" charset="0"/>
                <a:ea typeface="Calibri" pitchFamily="34" charset="-122"/>
                <a:cs typeface="Calibri" pitchFamily="34" charset="-120"/>
              </a:rPr>
              <a:t>Use fictional, synthetic, or anonymised data during the hackathon.</a:t>
            </a:r>
            <a:endParaRPr lang="en-US" sz="1400" dirty="0"/>
          </a:p>
          <a:p>
            <a:pPr marL="342900" indent="-342900">
              <a:spcAft>
                <a:spcPts val="500"/>
              </a:spcAft>
              <a:buSzPct val="100000"/>
              <a:buChar char="•"/>
            </a:pPr>
            <a:r>
              <a:rPr lang="en-US" sz="1400" dirty="0">
                <a:solidFill>
                  <a:srgbClr val="1B2B34"/>
                </a:solidFill>
                <a:latin typeface="Calibri" pitchFamily="34" charset="0"/>
                <a:ea typeface="Calibri" pitchFamily="34" charset="-122"/>
                <a:cs typeface="Calibri" pitchFamily="34" charset="-120"/>
              </a:rPr>
              <a:t>Do not expose the identity of anonymous reporters or allow retaliation against them.</a:t>
            </a:r>
            <a:endParaRPr lang="en-US" sz="1400" dirty="0"/>
          </a:p>
          <a:p>
            <a:pPr marL="342900" indent="-342900">
              <a:spcAft>
                <a:spcPts val="500"/>
              </a:spcAft>
              <a:buSzPct val="100000"/>
              <a:buChar char="•"/>
            </a:pPr>
            <a:r>
              <a:rPr lang="en-US" sz="1400" dirty="0">
                <a:solidFill>
                  <a:srgbClr val="1B2B34"/>
                </a:solidFill>
                <a:latin typeface="Calibri" pitchFamily="34" charset="0"/>
                <a:ea typeface="Calibri" pitchFamily="34" charset="-122"/>
                <a:cs typeface="Calibri" pitchFamily="34" charset="-120"/>
              </a:rPr>
              <a:t>Do not upload passwords, API keys, personal records, or confidential information to GitHub.</a:t>
            </a:r>
            <a:endParaRPr lang="en-US" sz="1400" dirty="0"/>
          </a:p>
          <a:p>
            <a:pPr marL="342900" indent="-342900">
              <a:spcAft>
                <a:spcPts val="500"/>
              </a:spcAft>
              <a:buSzPct val="100000"/>
              <a:buChar char="•"/>
            </a:pPr>
            <a:r>
              <a:rPr lang="en-US" sz="1400" dirty="0">
                <a:solidFill>
                  <a:srgbClr val="1B2B34"/>
                </a:solidFill>
                <a:latin typeface="Calibri" pitchFamily="34" charset="0"/>
                <a:ea typeface="Calibri" pitchFamily="34" charset="-122"/>
                <a:cs typeface="Calibri" pitchFamily="34" charset="-120"/>
              </a:rPr>
              <a:t>Provide clear privacy notices, consent where needed, and data-deletion controls.</a:t>
            </a:r>
            <a:endParaRPr lang="en-US" sz="1400" dirty="0"/>
          </a:p>
        </p:txBody>
      </p:sp>
      <p:sp>
        <p:nvSpPr>
          <p:cNvPr id="9" name="Shape 6"/>
          <p:cNvSpPr/>
          <p:nvPr/>
        </p:nvSpPr>
        <p:spPr>
          <a:xfrm>
            <a:off x="4334256" y="1645920"/>
            <a:ext cx="3520440" cy="4846320"/>
          </a:xfrm>
          <a:prstGeom prst="rect">
            <a:avLst/>
          </a:prstGeom>
          <a:solidFill>
            <a:srgbClr val="FFFFFF"/>
          </a:solidFill>
          <a:ln/>
          <a:effectLst>
            <a:outerShdw blurRad="101600" dist="25400" dir="5400000" algn="bl" rotWithShape="0">
              <a:srgbClr val="000000">
                <a:alpha val="12000"/>
              </a:srgbClr>
            </a:outerShdw>
          </a:effectLst>
        </p:spPr>
      </p:sp>
      <p:sp>
        <p:nvSpPr>
          <p:cNvPr id="10" name="Shape 7"/>
          <p:cNvSpPr/>
          <p:nvPr/>
        </p:nvSpPr>
        <p:spPr>
          <a:xfrm>
            <a:off x="4608576" y="1920240"/>
            <a:ext cx="548640" cy="548640"/>
          </a:xfrm>
          <a:prstGeom prst="ellipse">
            <a:avLst/>
          </a:prstGeom>
          <a:solidFill>
            <a:srgbClr val="C0392B"/>
          </a:solidFill>
          <a:ln/>
        </p:spPr>
      </p:sp>
      <p:pic>
        <p:nvPicPr>
          <p:cNvPr id="11" name="Image 1" descr="preencoded.png"/>
          <p:cNvPicPr>
            <a:picLocks noChangeAspect="1"/>
          </p:cNvPicPr>
          <p:nvPr/>
        </p:nvPicPr>
        <p:blipFill>
          <a:blip r:embed="rId4"/>
          <a:stretch>
            <a:fillRect/>
          </a:stretch>
        </p:blipFill>
        <p:spPr>
          <a:xfrm>
            <a:off x="4754880" y="2066544"/>
            <a:ext cx="256032" cy="256032"/>
          </a:xfrm>
          <a:prstGeom prst="rect">
            <a:avLst/>
          </a:prstGeom>
        </p:spPr>
      </p:pic>
      <p:sp>
        <p:nvSpPr>
          <p:cNvPr id="12" name="Text 8"/>
          <p:cNvSpPr txBox="1"/>
          <p:nvPr/>
        </p:nvSpPr>
        <p:spPr>
          <a:xfrm>
            <a:off x="5294376" y="1920240"/>
            <a:ext cx="2423160" cy="548640"/>
          </a:xfrm>
          <a:prstGeom prst="rect">
            <a:avLst/>
          </a:prstGeom>
          <a:noFill/>
          <a:ln/>
        </p:spPr>
        <p:txBody>
          <a:bodyPr wrap="square" lIns="0" tIns="0" rIns="0" bIns="0" rtlCol="0" anchor="ctr"/>
          <a:lstStyle/>
          <a:p>
            <a:pPr marL="0" indent="0">
              <a:buNone/>
            </a:pPr>
            <a:r>
              <a:rPr lang="en-US" sz="1900" b="1" dirty="0">
                <a:solidFill>
                  <a:srgbClr val="0E2A35"/>
                </a:solidFill>
                <a:latin typeface="Cambria" pitchFamily="34" charset="0"/>
                <a:ea typeface="Cambria" pitchFamily="34" charset="-122"/>
                <a:cs typeface="Cambria" pitchFamily="34" charset="-120"/>
              </a:rPr>
              <a:t>Responsible Claims &amp; Care</a:t>
            </a:r>
            <a:endParaRPr lang="en-US" sz="1900" dirty="0"/>
          </a:p>
        </p:txBody>
      </p:sp>
      <p:sp>
        <p:nvSpPr>
          <p:cNvPr id="13" name="Text 9"/>
          <p:cNvSpPr txBox="1"/>
          <p:nvPr/>
        </p:nvSpPr>
        <p:spPr>
          <a:xfrm>
            <a:off x="4608576" y="2651760"/>
            <a:ext cx="2971800" cy="36118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B2B34"/>
                </a:solidFill>
                <a:latin typeface="Calibri" pitchFamily="34" charset="0"/>
                <a:ea typeface="Calibri" pitchFamily="34" charset="-122"/>
                <a:cs typeface="Calibri" pitchFamily="34" charset="-120"/>
              </a:rPr>
              <a:t>Do not diagnose mental-health conditions or provide medical treatment advice.</a:t>
            </a:r>
            <a:endParaRPr lang="en-US" sz="1400" dirty="0"/>
          </a:p>
          <a:p>
            <a:pPr marL="342900" indent="-342900">
              <a:spcAft>
                <a:spcPts val="500"/>
              </a:spcAft>
              <a:buSzPct val="100000"/>
              <a:buChar char="•"/>
            </a:pPr>
            <a:r>
              <a:rPr lang="en-US" sz="1400" dirty="0">
                <a:solidFill>
                  <a:srgbClr val="1B2B34"/>
                </a:solidFill>
                <a:latin typeface="Calibri" pitchFamily="34" charset="0"/>
                <a:ea typeface="Calibri" pitchFamily="34" charset="-122"/>
                <a:cs typeface="Calibri" pitchFamily="34" charset="-120"/>
              </a:rPr>
              <a:t>Do not claim that the system guarantees recovery, safety, confidentiality, or emergency response.</a:t>
            </a:r>
            <a:endParaRPr lang="en-US" sz="1400" dirty="0"/>
          </a:p>
          <a:p>
            <a:pPr marL="342900" indent="-342900">
              <a:spcAft>
                <a:spcPts val="500"/>
              </a:spcAft>
              <a:buSzPct val="100000"/>
              <a:buChar char="•"/>
            </a:pPr>
            <a:r>
              <a:rPr lang="en-US" sz="1400" dirty="0">
                <a:solidFill>
                  <a:srgbClr val="1B2B34"/>
                </a:solidFill>
                <a:latin typeface="Calibri" pitchFamily="34" charset="0"/>
                <a:ea typeface="Calibri" pitchFamily="34" charset="-122"/>
                <a:cs typeface="Calibri" pitchFamily="34" charset="-120"/>
              </a:rPr>
              <a:t>Use non-judgmental language and avoid shaming users for stress, relapse, or digital overuse.</a:t>
            </a:r>
            <a:endParaRPr lang="en-US" sz="1400" dirty="0"/>
          </a:p>
          <a:p>
            <a:pPr marL="342900" indent="-342900">
              <a:spcAft>
                <a:spcPts val="500"/>
              </a:spcAft>
              <a:buSzPct val="100000"/>
              <a:buChar char="•"/>
            </a:pPr>
            <a:r>
              <a:rPr lang="en-US" sz="1400" dirty="0">
                <a:solidFill>
                  <a:srgbClr val="1B2B34"/>
                </a:solidFill>
                <a:latin typeface="Calibri" pitchFamily="34" charset="0"/>
                <a:ea typeface="Calibri" pitchFamily="34" charset="-122"/>
                <a:cs typeface="Calibri" pitchFamily="34" charset="-120"/>
              </a:rPr>
              <a:t>Use verified sources and display the source and verification date for support resources.</a:t>
            </a:r>
            <a:endParaRPr lang="en-US" sz="1400" dirty="0"/>
          </a:p>
          <a:p>
            <a:pPr marL="342900" indent="-342900">
              <a:spcAft>
                <a:spcPts val="500"/>
              </a:spcAft>
              <a:buSzPct val="100000"/>
              <a:buChar char="•"/>
            </a:pPr>
            <a:r>
              <a:rPr lang="en-US" sz="1400" dirty="0">
                <a:solidFill>
                  <a:srgbClr val="1B2B34"/>
                </a:solidFill>
                <a:latin typeface="Calibri" pitchFamily="34" charset="0"/>
                <a:ea typeface="Calibri" pitchFamily="34" charset="-122"/>
                <a:cs typeface="Calibri" pitchFamily="34" charset="-120"/>
              </a:rPr>
              <a:t>Provide professional-support and emergency-resource links where relevant.</a:t>
            </a:r>
            <a:endParaRPr lang="en-US" sz="1400" dirty="0"/>
          </a:p>
        </p:txBody>
      </p:sp>
      <p:sp>
        <p:nvSpPr>
          <p:cNvPr id="14" name="Shape 10"/>
          <p:cNvSpPr/>
          <p:nvPr/>
        </p:nvSpPr>
        <p:spPr>
          <a:xfrm>
            <a:off x="8119872" y="1645920"/>
            <a:ext cx="3520440" cy="4846320"/>
          </a:xfrm>
          <a:prstGeom prst="rect">
            <a:avLst/>
          </a:prstGeom>
          <a:solidFill>
            <a:srgbClr val="FFFFFF"/>
          </a:solidFill>
          <a:ln/>
          <a:effectLst>
            <a:outerShdw blurRad="101600" dist="25400" dir="5400000" algn="bl" rotWithShape="0">
              <a:srgbClr val="000000">
                <a:alpha val="12000"/>
              </a:srgbClr>
            </a:outerShdw>
          </a:effectLst>
        </p:spPr>
      </p:sp>
      <p:sp>
        <p:nvSpPr>
          <p:cNvPr id="15" name="Shape 11"/>
          <p:cNvSpPr/>
          <p:nvPr/>
        </p:nvSpPr>
        <p:spPr>
          <a:xfrm>
            <a:off x="8394192" y="1920240"/>
            <a:ext cx="548640" cy="548640"/>
          </a:xfrm>
          <a:prstGeom prst="ellipse">
            <a:avLst/>
          </a:prstGeom>
          <a:solidFill>
            <a:srgbClr val="6A5ACD"/>
          </a:solidFill>
          <a:ln/>
        </p:spPr>
      </p:sp>
      <p:pic>
        <p:nvPicPr>
          <p:cNvPr id="16" name="Image 2" descr="preencoded.png"/>
          <p:cNvPicPr>
            <a:picLocks noChangeAspect="1"/>
          </p:cNvPicPr>
          <p:nvPr/>
        </p:nvPicPr>
        <p:blipFill>
          <a:blip r:embed="rId5"/>
          <a:stretch>
            <a:fillRect/>
          </a:stretch>
        </p:blipFill>
        <p:spPr>
          <a:xfrm>
            <a:off x="8540496" y="2066544"/>
            <a:ext cx="256032" cy="256032"/>
          </a:xfrm>
          <a:prstGeom prst="rect">
            <a:avLst/>
          </a:prstGeom>
        </p:spPr>
      </p:pic>
      <p:sp>
        <p:nvSpPr>
          <p:cNvPr id="17" name="Text 12"/>
          <p:cNvSpPr txBox="1"/>
          <p:nvPr/>
        </p:nvSpPr>
        <p:spPr>
          <a:xfrm>
            <a:off x="9079992" y="1920240"/>
            <a:ext cx="2423160" cy="548640"/>
          </a:xfrm>
          <a:prstGeom prst="rect">
            <a:avLst/>
          </a:prstGeom>
          <a:noFill/>
          <a:ln/>
        </p:spPr>
        <p:txBody>
          <a:bodyPr wrap="square" lIns="0" tIns="0" rIns="0" bIns="0" rtlCol="0" anchor="ctr"/>
          <a:lstStyle/>
          <a:p>
            <a:pPr marL="0" indent="0">
              <a:buNone/>
            </a:pPr>
            <a:r>
              <a:rPr lang="en-US" sz="1900" b="1" dirty="0">
                <a:solidFill>
                  <a:srgbClr val="0E2A35"/>
                </a:solidFill>
                <a:latin typeface="Cambria" pitchFamily="34" charset="0"/>
                <a:ea typeface="Cambria" pitchFamily="34" charset="-122"/>
                <a:cs typeface="Cambria" pitchFamily="34" charset="-120"/>
              </a:rPr>
              <a:t>Transparency &amp; Oversight</a:t>
            </a:r>
            <a:endParaRPr lang="en-US" sz="1900" dirty="0"/>
          </a:p>
        </p:txBody>
      </p:sp>
      <p:sp>
        <p:nvSpPr>
          <p:cNvPr id="18" name="Text 13"/>
          <p:cNvSpPr txBox="1"/>
          <p:nvPr/>
        </p:nvSpPr>
        <p:spPr>
          <a:xfrm>
            <a:off x="8394192" y="2651760"/>
            <a:ext cx="2971800" cy="36118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B2B34"/>
                </a:solidFill>
                <a:latin typeface="Calibri" pitchFamily="34" charset="0"/>
                <a:ea typeface="Calibri" pitchFamily="34" charset="-122"/>
                <a:cs typeface="Calibri" pitchFamily="34" charset="-120"/>
              </a:rPr>
              <a:t>Clearly label simulated, uncertain, incomplete, or unverified information.</a:t>
            </a:r>
            <a:endParaRPr lang="en-US" sz="1400" dirty="0"/>
          </a:p>
          <a:p>
            <a:pPr marL="342900" indent="-342900">
              <a:spcAft>
                <a:spcPts val="500"/>
              </a:spcAft>
              <a:buSzPct val="100000"/>
              <a:buChar char="•"/>
            </a:pPr>
            <a:r>
              <a:rPr lang="en-US" sz="1400" dirty="0">
                <a:solidFill>
                  <a:srgbClr val="1B2B34"/>
                </a:solidFill>
                <a:latin typeface="Calibri" pitchFamily="34" charset="0"/>
                <a:ea typeface="Calibri" pitchFamily="34" charset="-122"/>
                <a:cs typeface="Calibri" pitchFamily="34" charset="-120"/>
              </a:rPr>
              <a:t>Keep humans in control of high-risk decisions and provide a human override.</a:t>
            </a:r>
            <a:endParaRPr lang="en-US" sz="1400" dirty="0"/>
          </a:p>
          <a:p>
            <a:pPr marL="342900" indent="-342900">
              <a:spcAft>
                <a:spcPts val="500"/>
              </a:spcAft>
              <a:buSzPct val="100000"/>
              <a:buChar char="•"/>
            </a:pPr>
            <a:r>
              <a:rPr lang="en-US" sz="1400" dirty="0">
                <a:solidFill>
                  <a:srgbClr val="1B2B34"/>
                </a:solidFill>
                <a:latin typeface="Calibri" pitchFamily="34" charset="0"/>
                <a:ea typeface="Calibri" pitchFamily="34" charset="-122"/>
                <a:cs typeface="Calibri" pitchFamily="34" charset="-120"/>
              </a:rPr>
              <a:t>Make scores, alerts, rankings, and recommendations explainable.</a:t>
            </a:r>
            <a:endParaRPr lang="en-US" sz="1400" dirty="0"/>
          </a:p>
          <a:p>
            <a:pPr marL="342900" indent="-342900">
              <a:spcAft>
                <a:spcPts val="500"/>
              </a:spcAft>
              <a:buSzPct val="100000"/>
              <a:buChar char="•"/>
            </a:pPr>
            <a:r>
              <a:rPr lang="en-US" sz="1400" dirty="0">
                <a:solidFill>
                  <a:srgbClr val="1B2B34"/>
                </a:solidFill>
                <a:latin typeface="Calibri" pitchFamily="34" charset="0"/>
                <a:ea typeface="Calibri" pitchFamily="34" charset="-122"/>
                <a:cs typeface="Calibri" pitchFamily="34" charset="-120"/>
              </a:rPr>
              <a:t>Test accessibility, language clarity, bias, and harmful edge cases.</a:t>
            </a:r>
            <a:endParaRPr lang="en-US" sz="1400" dirty="0"/>
          </a:p>
          <a:p>
            <a:pPr marL="342900" indent="-342900">
              <a:spcAft>
                <a:spcPts val="500"/>
              </a:spcAft>
              <a:buSzPct val="100000"/>
              <a:buChar char="•"/>
            </a:pPr>
            <a:r>
              <a:rPr lang="en-US" sz="1400" dirty="0">
                <a:solidFill>
                  <a:srgbClr val="1B2B34"/>
                </a:solidFill>
                <a:latin typeface="Calibri" pitchFamily="34" charset="0"/>
                <a:ea typeface="Calibri" pitchFamily="34" charset="-122"/>
                <a:cs typeface="Calibri" pitchFamily="34" charset="-120"/>
              </a:rPr>
              <a:t>Document assumptions, limitations, risks, and future improvements.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2A35"/>
        </a:solidFill>
        <a:effectLst/>
      </p:bgPr>
    </p:bg>
    <p:spTree>
      <p:nvGrpSpPr>
        <p:cNvPr id="1" name=""/>
        <p:cNvGrpSpPr/>
        <p:nvPr/>
      </p:nvGrpSpPr>
      <p:grpSpPr>
        <a:xfrm>
          <a:off x="0" y="0"/>
          <a:ext cx="0" cy="0"/>
          <a:chOff x="0" y="0"/>
          <a:chExt cx="0" cy="0"/>
        </a:xfrm>
      </p:grpSpPr>
      <p:sp>
        <p:nvSpPr>
          <p:cNvPr id="2" name="Text 0"/>
          <p:cNvSpPr txBox="1"/>
          <p:nvPr/>
        </p:nvSpPr>
        <p:spPr>
          <a:xfrm>
            <a:off x="640080" y="1828800"/>
            <a:ext cx="7315200" cy="2194560"/>
          </a:xfrm>
          <a:prstGeom prst="rect">
            <a:avLst/>
          </a:prstGeom>
          <a:noFill/>
          <a:ln/>
        </p:spPr>
        <p:txBody>
          <a:bodyPr wrap="square" lIns="0" tIns="0" rIns="0" bIns="0" rtlCol="0" anchor="t"/>
          <a:lstStyle/>
          <a:p>
            <a:pPr marL="0" indent="0">
              <a:buNone/>
            </a:pPr>
            <a:r>
              <a:rPr lang="en-US" sz="6000" b="1" dirty="0">
                <a:solidFill>
                  <a:srgbClr val="FFFFFF"/>
                </a:solidFill>
                <a:latin typeface="Cambria" pitchFamily="34" charset="0"/>
                <a:ea typeface="Cambria" pitchFamily="34" charset="-122"/>
                <a:cs typeface="Cambria" pitchFamily="34" charset="-120"/>
              </a:rPr>
              <a:t>Clear Mind.</a:t>
            </a:r>
            <a:endParaRPr lang="en-US" sz="6000" dirty="0"/>
          </a:p>
          <a:p>
            <a:pPr marL="0" indent="0">
              <a:buNone/>
            </a:pPr>
            <a:r>
              <a:rPr lang="en-US" sz="6000" b="1" dirty="0">
                <a:solidFill>
                  <a:srgbClr val="FFFFFF"/>
                </a:solidFill>
                <a:latin typeface="Cambria" pitchFamily="34" charset="0"/>
                <a:ea typeface="Cambria" pitchFamily="34" charset="-122"/>
                <a:cs typeface="Cambria" pitchFamily="34" charset="-120"/>
              </a:rPr>
              <a:t>Clean Code.</a:t>
            </a:r>
            <a:endParaRPr lang="en-US" sz="6000" dirty="0"/>
          </a:p>
        </p:txBody>
      </p:sp>
      <p:sp>
        <p:nvSpPr>
          <p:cNvPr id="3" name="Text 1"/>
          <p:cNvSpPr txBox="1"/>
          <p:nvPr/>
        </p:nvSpPr>
        <p:spPr>
          <a:xfrm>
            <a:off x="640080" y="4297680"/>
            <a:ext cx="7315200" cy="457200"/>
          </a:xfrm>
          <a:prstGeom prst="rect">
            <a:avLst/>
          </a:prstGeom>
          <a:noFill/>
          <a:ln/>
        </p:spPr>
        <p:txBody>
          <a:bodyPr wrap="square" lIns="0" tIns="0" rIns="0" bIns="0" rtlCol="0" anchor="ctr"/>
          <a:lstStyle/>
          <a:p>
            <a:pPr marL="0" indent="0">
              <a:buNone/>
            </a:pPr>
            <a:r>
              <a:rPr lang="en-US" sz="2000" dirty="0" err="1">
                <a:solidFill>
                  <a:srgbClr val="7FD6C8"/>
                </a:solidFill>
                <a:latin typeface="Calibri" pitchFamily="34" charset="0"/>
                <a:ea typeface="Calibri" pitchFamily="34" charset="-122"/>
                <a:cs typeface="Calibri" pitchFamily="34" charset="-120"/>
              </a:rPr>
              <a:t>ByteQuest</a:t>
            </a:r>
            <a:r>
              <a:rPr lang="en-US" sz="2000" dirty="0">
                <a:solidFill>
                  <a:srgbClr val="7FD6C8"/>
                </a:solidFill>
                <a:latin typeface="Calibri" pitchFamily="34" charset="0"/>
                <a:ea typeface="Calibri" pitchFamily="34" charset="-122"/>
                <a:cs typeface="Calibri" pitchFamily="34" charset="-120"/>
              </a:rPr>
              <a:t> Hackathon</a:t>
            </a:r>
            <a:endParaRPr lang="en-US" sz="2000" dirty="0"/>
          </a:p>
        </p:txBody>
      </p:sp>
      <p:sp>
        <p:nvSpPr>
          <p:cNvPr id="4" name="Shape 2"/>
          <p:cNvSpPr/>
          <p:nvPr/>
        </p:nvSpPr>
        <p:spPr>
          <a:xfrm>
            <a:off x="9326880" y="1280160"/>
            <a:ext cx="914400" cy="914400"/>
          </a:xfrm>
          <a:prstGeom prst="ellipse">
            <a:avLst/>
          </a:prstGeom>
          <a:solidFill>
            <a:srgbClr val="0F8B78"/>
          </a:solidFill>
          <a:ln/>
        </p:spPr>
      </p:sp>
      <p:pic>
        <p:nvPicPr>
          <p:cNvPr id="5" name="Image 0" descr="preencoded.png"/>
          <p:cNvPicPr>
            <a:picLocks noChangeAspect="1"/>
          </p:cNvPicPr>
          <p:nvPr/>
        </p:nvPicPr>
        <p:blipFill>
          <a:blip r:embed="rId3"/>
          <a:stretch>
            <a:fillRect/>
          </a:stretch>
        </p:blipFill>
        <p:spPr>
          <a:xfrm>
            <a:off x="9582912" y="1536192"/>
            <a:ext cx="402336" cy="402336"/>
          </a:xfrm>
          <a:prstGeom prst="rect">
            <a:avLst/>
          </a:prstGeom>
        </p:spPr>
      </p:pic>
      <p:sp>
        <p:nvSpPr>
          <p:cNvPr id="6" name="Shape 3"/>
          <p:cNvSpPr/>
          <p:nvPr/>
        </p:nvSpPr>
        <p:spPr>
          <a:xfrm>
            <a:off x="9326880" y="2468880"/>
            <a:ext cx="914400" cy="914400"/>
          </a:xfrm>
          <a:prstGeom prst="ellipse">
            <a:avLst/>
          </a:prstGeom>
          <a:solidFill>
            <a:srgbClr val="6A5ACD"/>
          </a:solidFill>
          <a:ln/>
        </p:spPr>
      </p:sp>
      <p:pic>
        <p:nvPicPr>
          <p:cNvPr id="7" name="Image 1" descr="preencoded.png"/>
          <p:cNvPicPr>
            <a:picLocks noChangeAspect="1"/>
          </p:cNvPicPr>
          <p:nvPr/>
        </p:nvPicPr>
        <p:blipFill>
          <a:blip r:embed="rId4"/>
          <a:stretch>
            <a:fillRect/>
          </a:stretch>
        </p:blipFill>
        <p:spPr>
          <a:xfrm>
            <a:off x="9582912" y="2724912"/>
            <a:ext cx="402336" cy="402336"/>
          </a:xfrm>
          <a:prstGeom prst="rect">
            <a:avLst/>
          </a:prstGeom>
        </p:spPr>
      </p:pic>
      <p:sp>
        <p:nvSpPr>
          <p:cNvPr id="8" name="Shape 4"/>
          <p:cNvSpPr/>
          <p:nvPr/>
        </p:nvSpPr>
        <p:spPr>
          <a:xfrm>
            <a:off x="9326880" y="3657600"/>
            <a:ext cx="914400" cy="914400"/>
          </a:xfrm>
          <a:prstGeom prst="ellipse">
            <a:avLst/>
          </a:prstGeom>
          <a:solidFill>
            <a:srgbClr val="C2620A"/>
          </a:solidFill>
          <a:ln/>
        </p:spPr>
      </p:sp>
      <p:pic>
        <p:nvPicPr>
          <p:cNvPr id="9" name="Image 2" descr="preencoded.png"/>
          <p:cNvPicPr>
            <a:picLocks noChangeAspect="1"/>
          </p:cNvPicPr>
          <p:nvPr/>
        </p:nvPicPr>
        <p:blipFill>
          <a:blip r:embed="rId5"/>
          <a:stretch>
            <a:fillRect/>
          </a:stretch>
        </p:blipFill>
        <p:spPr>
          <a:xfrm>
            <a:off x="9582912" y="3913632"/>
            <a:ext cx="402336" cy="402336"/>
          </a:xfrm>
          <a:prstGeom prst="rect">
            <a:avLst/>
          </a:prstGeom>
        </p:spPr>
      </p:pic>
      <p:sp>
        <p:nvSpPr>
          <p:cNvPr id="10" name="Shape 5"/>
          <p:cNvSpPr/>
          <p:nvPr/>
        </p:nvSpPr>
        <p:spPr>
          <a:xfrm>
            <a:off x="9326880" y="4846320"/>
            <a:ext cx="914400" cy="914400"/>
          </a:xfrm>
          <a:prstGeom prst="ellipse">
            <a:avLst/>
          </a:prstGeom>
          <a:solidFill>
            <a:srgbClr val="C0392B"/>
          </a:solidFill>
          <a:ln/>
        </p:spPr>
      </p:sp>
      <p:pic>
        <p:nvPicPr>
          <p:cNvPr id="11" name="Image 3" descr="preencoded.png"/>
          <p:cNvPicPr>
            <a:picLocks noChangeAspect="1"/>
          </p:cNvPicPr>
          <p:nvPr/>
        </p:nvPicPr>
        <p:blipFill>
          <a:blip r:embed="rId6"/>
          <a:stretch>
            <a:fillRect/>
          </a:stretch>
        </p:blipFill>
        <p:spPr>
          <a:xfrm>
            <a:off x="9582912" y="5102352"/>
            <a:ext cx="402336" cy="40233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1786</Words>
  <Application>Microsoft Office PowerPoint</Application>
  <PresentationFormat>Widescreen</PresentationFormat>
  <Paragraphs>296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ByteFree Hackathon – Top 8 Problem Statements</dc:title>
  <dc:subject>PptxGenJS Presentation</dc:subject>
  <dc:creator>PptxGenJS</dc:creator>
  <cp:lastModifiedBy>Arulovia A</cp:lastModifiedBy>
  <cp:revision>2</cp:revision>
  <dcterms:created xsi:type="dcterms:W3CDTF">2026-09-19T05:04:45Z</dcterms:created>
  <dcterms:modified xsi:type="dcterms:W3CDTF">2026-09-19T05:22:30Z</dcterms:modified>
</cp:coreProperties>
</file>